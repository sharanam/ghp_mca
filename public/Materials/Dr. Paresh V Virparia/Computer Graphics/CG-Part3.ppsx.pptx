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slideshow.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28"/>
  </p:notesMasterIdLst>
  <p:handoutMasterIdLst>
    <p:handoutMasterId r:id="rId29"/>
  </p:handoutMasterIdLst>
  <p:sldIdLst>
    <p:sldId id="509" r:id="rId2"/>
    <p:sldId id="510" r:id="rId3"/>
    <p:sldId id="513" r:id="rId4"/>
    <p:sldId id="511" r:id="rId5"/>
    <p:sldId id="512" r:id="rId6"/>
    <p:sldId id="516" r:id="rId7"/>
    <p:sldId id="514" r:id="rId8"/>
    <p:sldId id="518" r:id="rId9"/>
    <p:sldId id="517" r:id="rId10"/>
    <p:sldId id="519" r:id="rId11"/>
    <p:sldId id="520" r:id="rId12"/>
    <p:sldId id="521" r:id="rId13"/>
    <p:sldId id="522" r:id="rId14"/>
    <p:sldId id="527" r:id="rId15"/>
    <p:sldId id="526" r:id="rId16"/>
    <p:sldId id="528" r:id="rId17"/>
    <p:sldId id="531" r:id="rId18"/>
    <p:sldId id="530" r:id="rId19"/>
    <p:sldId id="532" r:id="rId20"/>
    <p:sldId id="533" r:id="rId21"/>
    <p:sldId id="534" r:id="rId22"/>
    <p:sldId id="535" r:id="rId23"/>
    <p:sldId id="536" r:id="rId24"/>
    <p:sldId id="537" r:id="rId25"/>
    <p:sldId id="538" r:id="rId26"/>
    <p:sldId id="539" r:id="rId2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99"/>
    <a:srgbClr val="FFCCFF"/>
    <a:srgbClr val="99FF99"/>
    <a:srgbClr val="00CC66"/>
    <a:srgbClr val="FFFFCC"/>
    <a:srgbClr val="99FFCC"/>
    <a:srgbClr val="B2B2B2"/>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4265" autoAdjust="0"/>
    <p:restoredTop sz="94728" autoAdjust="0"/>
  </p:normalViewPr>
  <p:slideViewPr>
    <p:cSldViewPr>
      <p:cViewPr>
        <p:scale>
          <a:sx n="70" d="100"/>
          <a:sy n="70" d="100"/>
        </p:scale>
        <p:origin x="-1752"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100" d="100"/>
          <a:sy n="100" d="100"/>
        </p:scale>
        <p:origin x="-792" y="-7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09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1094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21094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1094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D753AC02-A7A7-4F56-93FE-3DDF913BD708}" type="slidenum">
              <a:rPr lang="en-GB"/>
              <a:pPr>
                <a:defRPr/>
              </a:pPr>
              <a:t>‹#›</a:t>
            </a:fld>
            <a:endParaRPr lang="en-GB"/>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200"/>
            </a:lvl1pPr>
          </a:lstStyle>
          <a:p>
            <a:pPr>
              <a:defRPr/>
            </a:pPr>
            <a:endParaRPr lang="en-US"/>
          </a:p>
        </p:txBody>
      </p:sp>
      <p:sp>
        <p:nvSpPr>
          <p:cNvPr id="10240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200"/>
            </a:lvl1pPr>
          </a:lstStyle>
          <a:p>
            <a:pPr>
              <a:defRPr/>
            </a:pPr>
            <a:endParaRPr lang="en-US"/>
          </a:p>
        </p:txBody>
      </p:sp>
      <p:sp>
        <p:nvSpPr>
          <p:cNvPr id="28676"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0240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0240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0240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086A6B7-4E85-4B0D-8B65-79A4D055E9CB}"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2192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192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0"/>
            <a:ext cx="2228850" cy="5562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0"/>
            <a:ext cx="6534150" cy="5562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458200" cy="685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28600" y="1219200"/>
            <a:ext cx="4267200" cy="4343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219200"/>
            <a:ext cx="4267200" cy="4343400"/>
          </a:xfrm>
        </p:spPr>
        <p:txBody>
          <a:bodyPr/>
          <a:lstStyle/>
          <a:p>
            <a:pPr lvl="0"/>
            <a:endParaRPr lang="en-US" noProof="0"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458200" cy="6858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228600" y="1219200"/>
            <a:ext cx="8686800" cy="4343400"/>
          </a:xfrm>
        </p:spPr>
        <p:txBody>
          <a:bodyPr/>
          <a:lstStyle/>
          <a:p>
            <a:pPr lvl="0"/>
            <a:endParaRPr lang="en-US" noProof="0" smtClean="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458200" cy="685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228600" y="1219200"/>
            <a:ext cx="4267200" cy="4343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19200"/>
            <a:ext cx="4267200" cy="4343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458200" cy="6858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219200"/>
            <a:ext cx="4267200" cy="4343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219200"/>
            <a:ext cx="42672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467100"/>
            <a:ext cx="42672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026" descr="etched"/>
          <p:cNvPicPr>
            <a:picLocks noChangeAspect="1" noChangeArrowheads="1"/>
          </p:cNvPicPr>
          <p:nvPr/>
        </p:nvPicPr>
        <p:blipFill>
          <a:blip r:embed="rId17"/>
          <a:srcRect/>
          <a:stretch>
            <a:fillRect/>
          </a:stretch>
        </p:blipFill>
        <p:spPr bwMode="hidden">
          <a:xfrm>
            <a:off x="0" y="0"/>
            <a:ext cx="9144000" cy="6858000"/>
          </a:xfrm>
          <a:prstGeom prst="rect">
            <a:avLst/>
          </a:prstGeom>
          <a:noFill/>
          <a:ln w="9525">
            <a:noFill/>
            <a:miter lim="800000"/>
            <a:headEnd/>
            <a:tailEnd/>
          </a:ln>
        </p:spPr>
      </p:pic>
      <p:sp>
        <p:nvSpPr>
          <p:cNvPr id="95235" name="Rectangle 1027"/>
          <p:cNvSpPr>
            <a:spLocks noChangeArrowheads="1"/>
          </p:cNvSpPr>
          <p:nvPr/>
        </p:nvSpPr>
        <p:spPr bwMode="auto">
          <a:xfrm>
            <a:off x="0" y="0"/>
            <a:ext cx="9144000" cy="609600"/>
          </a:xfrm>
          <a:prstGeom prst="rect">
            <a:avLst/>
          </a:prstGeom>
          <a:gradFill rotWithShape="0">
            <a:gsLst>
              <a:gs pos="0">
                <a:srgbClr val="B2B2B2"/>
              </a:gs>
              <a:gs pos="100000">
                <a:srgbClr val="FFFFFF"/>
              </a:gs>
            </a:gsLst>
            <a:lin ang="0" scaled="1"/>
          </a:gradFill>
          <a:ln w="12700">
            <a:noFill/>
            <a:miter lim="800000"/>
            <a:headEnd/>
            <a:tailEnd/>
          </a:ln>
          <a:effectLst/>
        </p:spPr>
        <p:txBody>
          <a:bodyPr wrap="none" anchor="ctr"/>
          <a:lstStyle/>
          <a:p>
            <a:pPr>
              <a:defRPr/>
            </a:pPr>
            <a:endParaRPr lang="en-US"/>
          </a:p>
        </p:txBody>
      </p:sp>
      <p:sp>
        <p:nvSpPr>
          <p:cNvPr id="1028" name="Rectangle 1028"/>
          <p:cNvSpPr>
            <a:spLocks noGrp="1" noChangeArrowheads="1"/>
          </p:cNvSpPr>
          <p:nvPr>
            <p:ph type="title"/>
          </p:nvPr>
        </p:nvSpPr>
        <p:spPr bwMode="auto">
          <a:xfrm>
            <a:off x="0" y="0"/>
            <a:ext cx="84582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a:t>
            </a:r>
          </a:p>
        </p:txBody>
      </p:sp>
      <p:sp>
        <p:nvSpPr>
          <p:cNvPr id="95237" name="Rectangle 1029"/>
          <p:cNvSpPr>
            <a:spLocks noGrp="1" noChangeArrowheads="1"/>
          </p:cNvSpPr>
          <p:nvPr>
            <p:ph type="body" idx="1"/>
          </p:nvPr>
        </p:nvSpPr>
        <p:spPr bwMode="auto">
          <a:xfrm>
            <a:off x="228600" y="1219200"/>
            <a:ext cx="8686800" cy="434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95239" name="Rectangle 1031"/>
          <p:cNvSpPr>
            <a:spLocks noChangeArrowheads="1"/>
          </p:cNvSpPr>
          <p:nvPr userDrawn="1"/>
        </p:nvSpPr>
        <p:spPr bwMode="auto">
          <a:xfrm>
            <a:off x="0" y="6553200"/>
            <a:ext cx="9144000" cy="304800"/>
          </a:xfrm>
          <a:prstGeom prst="rect">
            <a:avLst/>
          </a:prstGeom>
          <a:solidFill>
            <a:schemeClr val="hlink"/>
          </a:solidFill>
          <a:ln w="12700">
            <a:noFill/>
            <a:miter lim="800000"/>
            <a:headEnd/>
            <a:tailEnd/>
          </a:ln>
          <a:effectLst/>
        </p:spPr>
        <p:txBody>
          <a:bodyPr wrap="none" anchor="ctr"/>
          <a:lstStyle/>
          <a:p>
            <a:pPr algn="ctr">
              <a:defRPr/>
            </a:pPr>
            <a:endParaRPr lang="en-GB"/>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hf hdr="0" dt="0"/>
  <p:txStyles>
    <p:titleStyle>
      <a:lvl1pPr algn="l" rtl="0" eaLnBrk="0" fontAlgn="base" hangingPunct="0">
        <a:lnSpc>
          <a:spcPct val="85000"/>
        </a:lnSpc>
        <a:spcBef>
          <a:spcPct val="10000"/>
        </a:spcBef>
        <a:spcAft>
          <a:spcPct val="0"/>
        </a:spcAft>
        <a:defRPr sz="3600" b="1">
          <a:solidFill>
            <a:srgbClr val="0000FF"/>
          </a:solidFill>
          <a:latin typeface="+mj-lt"/>
          <a:ea typeface="+mj-ea"/>
          <a:cs typeface="+mj-cs"/>
        </a:defRPr>
      </a:lvl1pPr>
      <a:lvl2pPr algn="l" rtl="0" eaLnBrk="0" fontAlgn="base" hangingPunct="0">
        <a:lnSpc>
          <a:spcPct val="85000"/>
        </a:lnSpc>
        <a:spcBef>
          <a:spcPct val="10000"/>
        </a:spcBef>
        <a:spcAft>
          <a:spcPct val="0"/>
        </a:spcAft>
        <a:defRPr sz="3600" b="1">
          <a:solidFill>
            <a:srgbClr val="0000FF"/>
          </a:solidFill>
          <a:latin typeface="Arial" pitchFamily="34" charset="0"/>
        </a:defRPr>
      </a:lvl2pPr>
      <a:lvl3pPr algn="l" rtl="0" eaLnBrk="0" fontAlgn="base" hangingPunct="0">
        <a:lnSpc>
          <a:spcPct val="85000"/>
        </a:lnSpc>
        <a:spcBef>
          <a:spcPct val="10000"/>
        </a:spcBef>
        <a:spcAft>
          <a:spcPct val="0"/>
        </a:spcAft>
        <a:defRPr sz="3600" b="1">
          <a:solidFill>
            <a:srgbClr val="0000FF"/>
          </a:solidFill>
          <a:latin typeface="Arial" pitchFamily="34" charset="0"/>
        </a:defRPr>
      </a:lvl3pPr>
      <a:lvl4pPr algn="l" rtl="0" eaLnBrk="0" fontAlgn="base" hangingPunct="0">
        <a:lnSpc>
          <a:spcPct val="85000"/>
        </a:lnSpc>
        <a:spcBef>
          <a:spcPct val="10000"/>
        </a:spcBef>
        <a:spcAft>
          <a:spcPct val="0"/>
        </a:spcAft>
        <a:defRPr sz="3600" b="1">
          <a:solidFill>
            <a:srgbClr val="0000FF"/>
          </a:solidFill>
          <a:latin typeface="Arial" pitchFamily="34" charset="0"/>
        </a:defRPr>
      </a:lvl4pPr>
      <a:lvl5pPr algn="l" rtl="0" eaLnBrk="0" fontAlgn="base" hangingPunct="0">
        <a:lnSpc>
          <a:spcPct val="85000"/>
        </a:lnSpc>
        <a:spcBef>
          <a:spcPct val="10000"/>
        </a:spcBef>
        <a:spcAft>
          <a:spcPct val="0"/>
        </a:spcAft>
        <a:defRPr sz="3600" b="1">
          <a:solidFill>
            <a:srgbClr val="0000FF"/>
          </a:solidFill>
          <a:latin typeface="Arial" pitchFamily="34" charset="0"/>
        </a:defRPr>
      </a:lvl5pPr>
      <a:lvl6pPr marL="457200" algn="l" rtl="0" eaLnBrk="0" fontAlgn="base" hangingPunct="0">
        <a:lnSpc>
          <a:spcPct val="85000"/>
        </a:lnSpc>
        <a:spcBef>
          <a:spcPct val="10000"/>
        </a:spcBef>
        <a:spcAft>
          <a:spcPct val="0"/>
        </a:spcAft>
        <a:defRPr sz="3600" b="1">
          <a:solidFill>
            <a:srgbClr val="0000FF"/>
          </a:solidFill>
          <a:latin typeface="Arial" pitchFamily="34" charset="0"/>
        </a:defRPr>
      </a:lvl6pPr>
      <a:lvl7pPr marL="914400" algn="l" rtl="0" eaLnBrk="0" fontAlgn="base" hangingPunct="0">
        <a:lnSpc>
          <a:spcPct val="85000"/>
        </a:lnSpc>
        <a:spcBef>
          <a:spcPct val="10000"/>
        </a:spcBef>
        <a:spcAft>
          <a:spcPct val="0"/>
        </a:spcAft>
        <a:defRPr sz="3600" b="1">
          <a:solidFill>
            <a:srgbClr val="0000FF"/>
          </a:solidFill>
          <a:latin typeface="Arial" pitchFamily="34" charset="0"/>
        </a:defRPr>
      </a:lvl7pPr>
      <a:lvl8pPr marL="1371600" algn="l" rtl="0" eaLnBrk="0" fontAlgn="base" hangingPunct="0">
        <a:lnSpc>
          <a:spcPct val="85000"/>
        </a:lnSpc>
        <a:spcBef>
          <a:spcPct val="10000"/>
        </a:spcBef>
        <a:spcAft>
          <a:spcPct val="0"/>
        </a:spcAft>
        <a:defRPr sz="3600" b="1">
          <a:solidFill>
            <a:srgbClr val="0000FF"/>
          </a:solidFill>
          <a:latin typeface="Arial" pitchFamily="34" charset="0"/>
        </a:defRPr>
      </a:lvl8pPr>
      <a:lvl9pPr marL="1828800" algn="l" rtl="0" eaLnBrk="0" fontAlgn="base" hangingPunct="0">
        <a:lnSpc>
          <a:spcPct val="85000"/>
        </a:lnSpc>
        <a:spcBef>
          <a:spcPct val="10000"/>
        </a:spcBef>
        <a:spcAft>
          <a:spcPct val="0"/>
        </a:spcAft>
        <a:defRPr sz="3600" b="1">
          <a:solidFill>
            <a:srgbClr val="0000FF"/>
          </a:solidFill>
          <a:latin typeface="Arial" pitchFamily="34" charset="0"/>
        </a:defRPr>
      </a:lvl9pPr>
    </p:titleStyle>
    <p:bodyStyle>
      <a:lvl1pPr marL="342900" indent="-342900" algn="l" rtl="0" eaLnBrk="0" fontAlgn="base" hangingPunct="0">
        <a:lnSpc>
          <a:spcPct val="145000"/>
        </a:lnSpc>
        <a:spcBef>
          <a:spcPct val="20000"/>
        </a:spcBef>
        <a:spcAft>
          <a:spcPct val="0"/>
        </a:spcAft>
        <a:buClr>
          <a:schemeClr val="tx1"/>
        </a:buClr>
        <a:buSzPct val="60000"/>
        <a:buFont typeface="Wingdings" pitchFamily="2" charset="2"/>
        <a:buChar char="l"/>
        <a:defRPr sz="28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lnSpc>
          <a:spcPct val="145000"/>
        </a:lnSpc>
        <a:spcBef>
          <a:spcPct val="0"/>
        </a:spcBef>
        <a:spcAft>
          <a:spcPct val="0"/>
        </a:spcAft>
        <a:buChar char="–"/>
        <a:defRPr sz="2600">
          <a:solidFill>
            <a:schemeClr val="tx1"/>
          </a:solidFill>
          <a:effectLst>
            <a:outerShdw blurRad="38100" dist="38100" dir="2700000" algn="tl">
              <a:srgbClr val="000000"/>
            </a:outerShdw>
          </a:effectLst>
          <a:latin typeface="+mn-lt"/>
        </a:defRPr>
      </a:lvl2pPr>
      <a:lvl3pPr marL="1143000" indent="-228600" algn="l" rtl="0" eaLnBrk="0" fontAlgn="base" hangingPunct="0">
        <a:lnSpc>
          <a:spcPct val="145000"/>
        </a:lnSpc>
        <a:spcBef>
          <a:spcPct val="15000"/>
        </a:spcBef>
        <a:spcAft>
          <a:spcPct val="0"/>
        </a:spcAft>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5pPr>
      <a:lvl6pPr marL="25146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6pPr>
      <a:lvl7pPr marL="29718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7pPr>
      <a:lvl8pPr marL="34290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8pPr>
      <a:lvl9pPr marL="3886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3"/>
          <p:cNvSpPr txBox="1">
            <a:spLocks noChangeArrowheads="1"/>
          </p:cNvSpPr>
          <p:nvPr/>
        </p:nvSpPr>
        <p:spPr bwMode="auto">
          <a:xfrm>
            <a:off x="152400" y="685800"/>
            <a:ext cx="8839200" cy="4154488"/>
          </a:xfrm>
          <a:prstGeom prst="rect">
            <a:avLst/>
          </a:prstGeom>
          <a:noFill/>
          <a:ln w="9525">
            <a:noFill/>
            <a:miter lim="800000"/>
            <a:headEnd/>
            <a:tailEnd/>
          </a:ln>
        </p:spPr>
        <p:txBody>
          <a:bodyPr>
            <a:spAutoFit/>
          </a:bodyPr>
          <a:lstStyle/>
          <a:p>
            <a:pPr marL="355600" indent="-355600" algn="just">
              <a:spcAft>
                <a:spcPts val="1000"/>
              </a:spcAft>
            </a:pPr>
            <a:r>
              <a:rPr lang="en-US" b="1">
                <a:latin typeface="Arial" charset="0"/>
                <a:ea typeface="Calibri" pitchFamily="34" charset="0"/>
                <a:cs typeface="Times New Roman" pitchFamily="18" charset="0"/>
              </a:rPr>
              <a:t>Various color and intensity-level options can be made available to a user, depending on the capabilities and design objectives of a particular system. General purpose raster-scan systems, for example, usually provide a wide range of colors, while random-scan monitors typically offer only a few color choices, if any. Color options are numerically coded with values ranging from 0 through the positive integers. For CRT monitors, these color codes are then converted to intensity level settings for the electron beams. With color plotters, the codes could control ink-jet deposits or pen selections.</a:t>
            </a:r>
            <a:endParaRPr lang="en-US" sz="2000">
              <a:latin typeface="Calibri" pitchFamily="34" charset="0"/>
              <a:ea typeface="Calibri" pitchFamily="34" charset="0"/>
              <a:cs typeface="Times New Roman" pitchFamily="18" charset="0"/>
            </a:endParaRP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COLOR AND GRAYSCALE LEVELS:</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3"/>
          <p:cNvSpPr txBox="1">
            <a:spLocks noChangeArrowheads="1"/>
          </p:cNvSpPr>
          <p:nvPr/>
        </p:nvSpPr>
        <p:spPr bwMode="auto">
          <a:xfrm>
            <a:off x="152400" y="685800"/>
            <a:ext cx="8839200" cy="5883275"/>
          </a:xfrm>
          <a:prstGeom prst="rect">
            <a:avLst/>
          </a:prstGeom>
          <a:noFill/>
          <a:ln w="9525">
            <a:noFill/>
            <a:miter lim="800000"/>
            <a:headEnd/>
            <a:tailEnd/>
          </a:ln>
        </p:spPr>
        <p:txBody>
          <a:bodyPr>
            <a:spAutoFit/>
          </a:bodyPr>
          <a:lstStyle/>
          <a:p>
            <a:pPr marL="355600" indent="-355600" algn="just">
              <a:spcAft>
                <a:spcPts val="1000"/>
              </a:spcAft>
            </a:pPr>
            <a:r>
              <a:rPr lang="en-US" sz="2300" b="1">
                <a:latin typeface="Arial" charset="0"/>
                <a:ea typeface="Calibri" pitchFamily="34" charset="0"/>
                <a:cs typeface="Times New Roman" pitchFamily="18" charset="0"/>
              </a:rPr>
              <a:t>In a color raster system, the number of color choices available depends on the amount of storage provided per pixel in the frame buffer Also, color-information can be stored in the frame buffer in two ways: We can store color codes directly in the frame buffer, or we can put the color codes in a separate table and use pixel values as an index into this table. </a:t>
            </a:r>
          </a:p>
          <a:p>
            <a:pPr marL="355600" indent="-355600" algn="just">
              <a:spcAft>
                <a:spcPts val="1000"/>
              </a:spcAft>
            </a:pPr>
            <a:r>
              <a:rPr lang="en-US" sz="2300" b="1">
                <a:latin typeface="Arial" charset="0"/>
                <a:ea typeface="Calibri" pitchFamily="34" charset="0"/>
                <a:cs typeface="Times New Roman" pitchFamily="18" charset="0"/>
              </a:rPr>
              <a:t>With the direct storage scheme, whenever a particular color code is specified in an application program, the corresponding binary value is placed in the frame buffer for each component pixel in the output primitives to be displayed in that color. A minimum number of colors can be provided in this scheme with 3 bits of storage per pixel, as shown in Table 4.1. Each of the three bit positions is used to control the intensity level (either on or off) of the corresponding electron gun in an RGB monitor..</a:t>
            </a:r>
            <a:endParaRPr lang="en-US" sz="2300">
              <a:latin typeface="Calibri" pitchFamily="34" charset="0"/>
              <a:ea typeface="Calibri" pitchFamily="34" charset="0"/>
              <a:cs typeface="Times New Roman" pitchFamily="18" charset="0"/>
            </a:endParaRP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COLOR AND GRAYSCALE LEVELS:</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COLOR AND GRAYSCALE LEVELS:</a:t>
            </a:r>
          </a:p>
        </p:txBody>
      </p:sp>
      <p:pic>
        <p:nvPicPr>
          <p:cNvPr id="4099" name="Picture 2"/>
          <p:cNvPicPr>
            <a:picLocks noChangeAspect="1" noChangeArrowheads="1"/>
          </p:cNvPicPr>
          <p:nvPr/>
        </p:nvPicPr>
        <p:blipFill>
          <a:blip r:embed="rId2">
            <a:lum bright="-20000" contrast="30000"/>
          </a:blip>
          <a:srcRect/>
          <a:stretch>
            <a:fillRect/>
          </a:stretch>
        </p:blipFill>
        <p:spPr bwMode="auto">
          <a:xfrm>
            <a:off x="1219200" y="1066800"/>
            <a:ext cx="6477000" cy="51895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3"/>
          <p:cNvSpPr txBox="1">
            <a:spLocks noChangeArrowheads="1"/>
          </p:cNvSpPr>
          <p:nvPr/>
        </p:nvSpPr>
        <p:spPr bwMode="auto">
          <a:xfrm>
            <a:off x="152400" y="685800"/>
            <a:ext cx="8839200" cy="5761038"/>
          </a:xfrm>
          <a:prstGeom prst="rect">
            <a:avLst/>
          </a:prstGeom>
          <a:noFill/>
          <a:ln w="9525">
            <a:noFill/>
            <a:miter lim="800000"/>
            <a:headEnd/>
            <a:tailEnd/>
          </a:ln>
        </p:spPr>
        <p:txBody>
          <a:bodyPr>
            <a:spAutoFit/>
          </a:bodyPr>
          <a:lstStyle/>
          <a:p>
            <a:pPr marL="355600" indent="-355600" algn="just">
              <a:spcAft>
                <a:spcPts val="1000"/>
              </a:spcAft>
            </a:pPr>
            <a:r>
              <a:rPr lang="en-US" b="1">
                <a:latin typeface="Arial" charset="0"/>
                <a:ea typeface="Calibri" pitchFamily="34" charset="0"/>
                <a:cs typeface="Times New Roman" pitchFamily="18" charset="0"/>
              </a:rPr>
              <a:t>The leftmost bit controls the red gun, the middle bit controls the green gun, and the rightmost bit controls the blue gun. Adding more bits per pixel to the frame buffer increases the number of color choices. With 6 bits per pixel, 2 bits can be used for each gun. </a:t>
            </a:r>
          </a:p>
          <a:p>
            <a:pPr marL="355600" indent="-355600" algn="just">
              <a:spcAft>
                <a:spcPts val="1000"/>
              </a:spcAft>
            </a:pPr>
            <a:r>
              <a:rPr lang="en-US" b="1">
                <a:latin typeface="Arial" charset="0"/>
                <a:ea typeface="Calibri" pitchFamily="34" charset="0"/>
                <a:cs typeface="Times New Roman" pitchFamily="18" charset="0"/>
              </a:rPr>
              <a:t>This allows four different intensity settings for each of the three color guns, and a total of 64 color values are available for each screen pixel. With a resolution of 1024 by 1024, a full-color (24bit per pixel) RGB system needs 3 megabytes of storage for the frame buffer. Color tables are an alternate means for providing extended color capabilities to a user without requiring large frame buffers. Lower-cost personal computer systems, in particular, often use color tables to reduce frame-buffer storage requirements.</a:t>
            </a:r>
            <a:endParaRPr lang="en-US" sz="2000">
              <a:latin typeface="Calibri" pitchFamily="34" charset="0"/>
              <a:ea typeface="Calibri" pitchFamily="34" charset="0"/>
              <a:cs typeface="Times New Roman" pitchFamily="18" charset="0"/>
            </a:endParaRP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COLOR AND GRAYSCALE LEVELS:</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3"/>
          <p:cNvSpPr txBox="1">
            <a:spLocks noChangeArrowheads="1"/>
          </p:cNvSpPr>
          <p:nvPr/>
        </p:nvSpPr>
        <p:spPr bwMode="auto">
          <a:xfrm>
            <a:off x="152400" y="685800"/>
            <a:ext cx="8839200" cy="5899150"/>
          </a:xfrm>
          <a:prstGeom prst="rect">
            <a:avLst/>
          </a:prstGeom>
          <a:noFill/>
          <a:ln w="9525">
            <a:noFill/>
            <a:miter lim="800000"/>
            <a:headEnd/>
            <a:tailEnd/>
          </a:ln>
        </p:spPr>
        <p:txBody>
          <a:bodyPr>
            <a:spAutoFit/>
          </a:bodyPr>
          <a:lstStyle/>
          <a:p>
            <a:pPr marL="355600" indent="-355600" algn="just">
              <a:spcAft>
                <a:spcPts val="1000"/>
              </a:spcAft>
              <a:defRPr/>
            </a:pPr>
            <a:r>
              <a:rPr lang="en-US" b="1" dirty="0">
                <a:latin typeface="Arial" charset="0"/>
                <a:ea typeface="Calibri" pitchFamily="34" charset="0"/>
                <a:cs typeface="Times New Roman" pitchFamily="18" charset="0"/>
              </a:rPr>
              <a:t>Color Tables:</a:t>
            </a:r>
          </a:p>
          <a:p>
            <a:pPr algn="just">
              <a:spcAft>
                <a:spcPts val="1000"/>
              </a:spcAft>
              <a:defRPr/>
            </a:pPr>
            <a:r>
              <a:rPr lang="en-US" sz="2300" b="1" dirty="0">
                <a:latin typeface="Arial" charset="0"/>
                <a:ea typeface="Calibri" pitchFamily="34" charset="0"/>
                <a:cs typeface="Times New Roman" pitchFamily="18" charset="0"/>
              </a:rPr>
              <a:t>Figure 4-16 illustrates a possible scheme for storing color values in a color lookup table (or video lookup table), where frame-buffer values are now used as indices into the color table. In this example, each pixel can reference any one of the 256 table positions, and each entry in the table uses 24 bits to specify an RGB color. For the color code 2081, a combination green-blue color is displayed for pixel location (x, y). Systems employing this particular lookup table would allow a user to select any 256 colors for simultaneous display from a palette of nearly 17 million colors. Compared to a full-color system. this scheme reduces the number of simultaneous colors that can be displayed, but it also reduces the frame buffer storage requirements to 1 megabyte. Some graphics systems provide 9 bits per pixel in the frame buffer, permitting a user to select 512 colors that could be used in each display.</a:t>
            </a:r>
            <a:endParaRPr lang="en-US" sz="2300" dirty="0">
              <a:latin typeface="Calibri" pitchFamily="34" charset="0"/>
              <a:ea typeface="Calibri" pitchFamily="34" charset="0"/>
              <a:cs typeface="Times New Roman" pitchFamily="18" charset="0"/>
            </a:endParaRP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COLOR AND GRAYSCALE LEVELS:</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COLOR AND GRAYSCALE LEVELS:</a:t>
            </a:r>
          </a:p>
        </p:txBody>
      </p:sp>
      <p:pic>
        <p:nvPicPr>
          <p:cNvPr id="7171" name="Picture 2"/>
          <p:cNvPicPr>
            <a:picLocks noChangeAspect="1" noChangeArrowheads="1"/>
          </p:cNvPicPr>
          <p:nvPr/>
        </p:nvPicPr>
        <p:blipFill>
          <a:blip r:embed="rId2">
            <a:lum bright="-20000" contrast="30000"/>
          </a:blip>
          <a:srcRect/>
          <a:stretch>
            <a:fillRect/>
          </a:stretch>
        </p:blipFill>
        <p:spPr bwMode="auto">
          <a:xfrm>
            <a:off x="0" y="609600"/>
            <a:ext cx="5862638" cy="3048000"/>
          </a:xfrm>
          <a:prstGeom prst="rect">
            <a:avLst/>
          </a:prstGeom>
          <a:noFill/>
          <a:ln w="9525">
            <a:noFill/>
            <a:miter lim="800000"/>
            <a:headEnd/>
            <a:tailEnd/>
          </a:ln>
        </p:spPr>
      </p:pic>
      <p:pic>
        <p:nvPicPr>
          <p:cNvPr id="7172" name="Picture 5" descr="File:Color-lookup-table.png"/>
          <p:cNvPicPr>
            <a:picLocks noChangeAspect="1" noChangeArrowheads="1"/>
          </p:cNvPicPr>
          <p:nvPr/>
        </p:nvPicPr>
        <p:blipFill>
          <a:blip r:embed="rId3"/>
          <a:srcRect/>
          <a:stretch>
            <a:fillRect/>
          </a:stretch>
        </p:blipFill>
        <p:spPr bwMode="auto">
          <a:xfrm>
            <a:off x="4191000" y="3429000"/>
            <a:ext cx="4953000" cy="31702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3"/>
          <p:cNvSpPr txBox="1">
            <a:spLocks noChangeArrowheads="1"/>
          </p:cNvSpPr>
          <p:nvPr/>
        </p:nvSpPr>
        <p:spPr bwMode="auto">
          <a:xfrm>
            <a:off x="152400" y="685800"/>
            <a:ext cx="8839200" cy="4170363"/>
          </a:xfrm>
          <a:prstGeom prst="rect">
            <a:avLst/>
          </a:prstGeom>
          <a:noFill/>
          <a:ln w="9525">
            <a:noFill/>
            <a:miter lim="800000"/>
            <a:headEnd/>
            <a:tailEnd/>
          </a:ln>
        </p:spPr>
        <p:txBody>
          <a:bodyPr>
            <a:spAutoFit/>
          </a:bodyPr>
          <a:lstStyle/>
          <a:p>
            <a:pPr marL="355600" indent="-355600" algn="just">
              <a:spcAft>
                <a:spcPts val="1000"/>
              </a:spcAft>
            </a:pPr>
            <a:r>
              <a:rPr lang="en-US" b="1">
                <a:latin typeface="Arial" charset="0"/>
                <a:ea typeface="Calibri" pitchFamily="34" charset="0"/>
                <a:cs typeface="Times New Roman" pitchFamily="18" charset="0"/>
              </a:rPr>
              <a:t>A user can set color-table entries in a PHIGS applications program with the function</a:t>
            </a:r>
          </a:p>
          <a:p>
            <a:pPr marL="355600" indent="-355600" algn="just">
              <a:spcAft>
                <a:spcPts val="1000"/>
              </a:spcAft>
            </a:pPr>
            <a:r>
              <a:rPr lang="en-US" b="1">
                <a:latin typeface="Arial" charset="0"/>
                <a:ea typeface="Calibri" pitchFamily="34" charset="0"/>
                <a:cs typeface="Times New Roman" pitchFamily="18" charset="0"/>
              </a:rPr>
              <a:t>             setColourRepresentation (ws, ci, colorptr)</a:t>
            </a:r>
          </a:p>
          <a:p>
            <a:pPr marL="355600" indent="-355600" algn="just">
              <a:spcAft>
                <a:spcPts val="1000"/>
              </a:spcAft>
            </a:pPr>
            <a:r>
              <a:rPr lang="en-US" b="1">
                <a:latin typeface="Arial" charset="0"/>
                <a:ea typeface="Calibri" pitchFamily="34" charset="0"/>
                <a:cs typeface="Times New Roman" pitchFamily="18" charset="0"/>
              </a:rPr>
              <a:t>Parameter ws identifies the workstation output device; parameter ci specifies the color index, which is the color-table position number (0 to 255 for the example in Fig. 4-16); and parameter colorptr points to a trio of RGB color values (r, g, b) each specified in the range from 0 to 1. An example of possible table entries for color monitors is given in Fig. 4-17.</a:t>
            </a:r>
            <a:endParaRPr lang="en-US" sz="2000">
              <a:latin typeface="Calibri" pitchFamily="34" charset="0"/>
              <a:ea typeface="Calibri" pitchFamily="34" charset="0"/>
              <a:cs typeface="Times New Roman" pitchFamily="18" charset="0"/>
            </a:endParaRP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COLOR AND GRAYSCALE LEVELS:</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COLOR AND GRAYSCALE LEVELS:</a:t>
            </a:r>
          </a:p>
        </p:txBody>
      </p:sp>
      <p:pic>
        <p:nvPicPr>
          <p:cNvPr id="9219" name="Picture 2"/>
          <p:cNvPicPr>
            <a:picLocks noChangeAspect="1" noChangeArrowheads="1"/>
          </p:cNvPicPr>
          <p:nvPr/>
        </p:nvPicPr>
        <p:blipFill>
          <a:blip r:embed="rId2">
            <a:lum bright="-20000" contrast="30000"/>
          </a:blip>
          <a:srcRect/>
          <a:stretch>
            <a:fillRect/>
          </a:stretch>
        </p:blipFill>
        <p:spPr bwMode="auto">
          <a:xfrm>
            <a:off x="914400" y="1371600"/>
            <a:ext cx="7239000" cy="44084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3"/>
          <p:cNvSpPr txBox="1">
            <a:spLocks noChangeArrowheads="1"/>
          </p:cNvSpPr>
          <p:nvPr/>
        </p:nvSpPr>
        <p:spPr bwMode="auto">
          <a:xfrm>
            <a:off x="152400" y="615950"/>
            <a:ext cx="8839200" cy="6165850"/>
          </a:xfrm>
          <a:prstGeom prst="rect">
            <a:avLst/>
          </a:prstGeom>
          <a:noFill/>
          <a:ln w="9525">
            <a:noFill/>
            <a:miter lim="800000"/>
            <a:headEnd/>
            <a:tailEnd/>
          </a:ln>
        </p:spPr>
        <p:txBody>
          <a:bodyPr>
            <a:spAutoFit/>
          </a:bodyPr>
          <a:lstStyle/>
          <a:p>
            <a:pPr algn="just">
              <a:spcAft>
                <a:spcPts val="1000"/>
              </a:spcAft>
            </a:pPr>
            <a:r>
              <a:rPr lang="en-US" sz="2100" b="1">
                <a:solidFill>
                  <a:srgbClr val="FF0000"/>
                </a:solidFill>
                <a:latin typeface="Arial" charset="0"/>
                <a:ea typeface="Calibri" pitchFamily="34" charset="0"/>
                <a:cs typeface="Times New Roman" pitchFamily="18" charset="0"/>
              </a:rPr>
              <a:t>Grayscale:</a:t>
            </a:r>
          </a:p>
          <a:p>
            <a:pPr algn="just">
              <a:spcAft>
                <a:spcPts val="1000"/>
              </a:spcAft>
            </a:pPr>
            <a:r>
              <a:rPr lang="en-US" sz="2100" b="1">
                <a:latin typeface="Arial" charset="0"/>
                <a:ea typeface="Calibri" pitchFamily="34" charset="0"/>
                <a:cs typeface="Times New Roman" pitchFamily="18" charset="0"/>
              </a:rPr>
              <a:t>With monitors that have no color capability, color functions can be used in an application program to set the shades of gray, or grayscale, for displayed primitives. Numeric values over the range from 0 to 1 can be used to specify grayscale levels, which are then converted to appropriate binary codes for storage in the raster. This allows the intensity settings to be easily adapted to systems with differing grayscale capabilities. </a:t>
            </a:r>
          </a:p>
          <a:p>
            <a:pPr algn="just">
              <a:spcAft>
                <a:spcPts val="1000"/>
              </a:spcAft>
            </a:pPr>
            <a:r>
              <a:rPr lang="en-US" sz="2100" b="1">
                <a:latin typeface="Arial" charset="0"/>
                <a:ea typeface="Calibri" pitchFamily="34" charset="0"/>
                <a:cs typeface="Times New Roman" pitchFamily="18" charset="0"/>
              </a:rPr>
              <a:t>Table 4-2 lists the specifications for intensity codes for a four-level grayscale system. In this example, any intensity input value near 0.33 would be stored as the binary value 01 in the frame buffer, and pixels with this value would be displayed as dark gray. If additional bits per pixel are available in the frame buffer, the value of 0.33 would be mapped to the nearest level. With 3 bits per pixel, we can accommodate 8 gray levels; while 8 bits per pixel would give us 256 shades of gray. An alternative scheme for storing the intensity information is to convert each intensity code directly to the voltage value that produces this grayscale level on the output device in use.</a:t>
            </a:r>
            <a:endParaRPr lang="en-US" sz="2100">
              <a:latin typeface="Calibri" pitchFamily="34" charset="0"/>
              <a:ea typeface="Calibri" pitchFamily="34" charset="0"/>
              <a:cs typeface="Times New Roman" pitchFamily="18" charset="0"/>
            </a:endParaRP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COLOR AND GRAYSCALE LEVELS:</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a:spLocks noChangeArrowheads="1"/>
          </p:cNvSpPr>
          <p:nvPr/>
        </p:nvSpPr>
        <p:spPr bwMode="auto">
          <a:xfrm>
            <a:off x="152400" y="631825"/>
            <a:ext cx="8839200" cy="2159000"/>
          </a:xfrm>
          <a:prstGeom prst="rect">
            <a:avLst/>
          </a:prstGeom>
          <a:noFill/>
          <a:ln w="9525">
            <a:noFill/>
            <a:miter lim="800000"/>
            <a:headEnd/>
            <a:tailEnd/>
          </a:ln>
        </p:spPr>
        <p:txBody>
          <a:bodyPr>
            <a:spAutoFit/>
          </a:bodyPr>
          <a:lstStyle/>
          <a:p>
            <a:pPr algn="just">
              <a:spcAft>
                <a:spcPts val="1000"/>
              </a:spcAft>
            </a:pPr>
            <a:r>
              <a:rPr lang="en-US" sz="2100" b="1">
                <a:latin typeface="Arial" charset="0"/>
                <a:ea typeface="Calibri" pitchFamily="34" charset="0"/>
                <a:cs typeface="Times New Roman" pitchFamily="18" charset="0"/>
              </a:rPr>
              <a:t>When multiple output devices are available at an installation, the same color-table interface may be used for all monitors. In this case, a color table for a monochrome monitor can be set up using a range of RGB values as in Fig. 4-17, with the display intensity corresponding to a given color index ci calculated as</a:t>
            </a:r>
          </a:p>
          <a:p>
            <a:pPr algn="just">
              <a:spcAft>
                <a:spcPts val="1000"/>
              </a:spcAft>
            </a:pPr>
            <a:r>
              <a:rPr lang="en-US" sz="2100" b="1">
                <a:latin typeface="Arial" charset="0"/>
                <a:ea typeface="Calibri" pitchFamily="34" charset="0"/>
                <a:cs typeface="Times New Roman" pitchFamily="18" charset="0"/>
              </a:rPr>
              <a:t>                 intensity = 0.5[min(r, g, b) + max(r, g, b)]</a:t>
            </a:r>
            <a:endParaRPr lang="en-US" sz="2100">
              <a:latin typeface="Calibri" pitchFamily="34" charset="0"/>
              <a:ea typeface="Calibri" pitchFamily="34" charset="0"/>
              <a:cs typeface="Times New Roman" pitchFamily="18" charset="0"/>
            </a:endParaRP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COLOR AND GRAYSCALE LEVELS:</a:t>
            </a:r>
          </a:p>
        </p:txBody>
      </p:sp>
      <p:pic>
        <p:nvPicPr>
          <p:cNvPr id="11268" name="Picture 2"/>
          <p:cNvPicPr>
            <a:picLocks noChangeAspect="1" noChangeArrowheads="1"/>
          </p:cNvPicPr>
          <p:nvPr/>
        </p:nvPicPr>
        <p:blipFill>
          <a:blip r:embed="rId2">
            <a:lum bright="-20000" contrast="30000"/>
          </a:blip>
          <a:srcRect/>
          <a:stretch>
            <a:fillRect/>
          </a:stretch>
        </p:blipFill>
        <p:spPr bwMode="auto">
          <a:xfrm>
            <a:off x="1676400" y="2895600"/>
            <a:ext cx="5715000" cy="347821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3"/>
          <p:cNvSpPr txBox="1">
            <a:spLocks noChangeArrowheads="1"/>
          </p:cNvSpPr>
          <p:nvPr/>
        </p:nvSpPr>
        <p:spPr bwMode="auto">
          <a:xfrm>
            <a:off x="152400" y="631825"/>
            <a:ext cx="8839200" cy="5903913"/>
          </a:xfrm>
          <a:prstGeom prst="rect">
            <a:avLst/>
          </a:prstGeom>
          <a:noFill/>
          <a:ln w="9525">
            <a:noFill/>
            <a:miter lim="800000"/>
            <a:headEnd/>
            <a:tailEnd/>
          </a:ln>
        </p:spPr>
        <p:txBody>
          <a:bodyPr>
            <a:spAutoFit/>
          </a:bodyPr>
          <a:lstStyle/>
          <a:p>
            <a:pPr algn="just">
              <a:spcAft>
                <a:spcPts val="1000"/>
              </a:spcAft>
            </a:pPr>
            <a:r>
              <a:rPr lang="en-US" sz="2100" b="1">
                <a:latin typeface="Arial" charset="0"/>
                <a:ea typeface="Calibri" pitchFamily="34" charset="0"/>
                <a:cs typeface="Times New Roman" pitchFamily="18" charset="0"/>
              </a:rPr>
              <a:t>AREA-FILL  ATTRIBUTES</a:t>
            </a:r>
          </a:p>
          <a:p>
            <a:pPr algn="just">
              <a:spcAft>
                <a:spcPts val="1000"/>
              </a:spcAft>
            </a:pPr>
            <a:r>
              <a:rPr lang="en-US" sz="2100" b="1">
                <a:latin typeface="Arial" charset="0"/>
                <a:ea typeface="Calibri" pitchFamily="34" charset="0"/>
                <a:cs typeface="Times New Roman" pitchFamily="18" charset="0"/>
              </a:rPr>
              <a:t>Options for filling a defined region include a choice between a solid color or a patterned fill and choices for the particular colors and patterns. These fill options can be applied to polygon regions or to areas defined with curved boundaries, depending on the capabilities of the available package. In addition, areas can be painted using various brush styles, colors, and transparency parameters.</a:t>
            </a:r>
          </a:p>
          <a:p>
            <a:pPr algn="just">
              <a:spcAft>
                <a:spcPts val="1000"/>
              </a:spcAft>
            </a:pPr>
            <a:r>
              <a:rPr lang="en-US" sz="2100" b="1">
                <a:latin typeface="Arial" charset="0"/>
                <a:ea typeface="Calibri" pitchFamily="34" charset="0"/>
                <a:cs typeface="Times New Roman" pitchFamily="18" charset="0"/>
              </a:rPr>
              <a:t>Fill Styles</a:t>
            </a:r>
          </a:p>
          <a:p>
            <a:pPr algn="just">
              <a:spcAft>
                <a:spcPts val="1000"/>
              </a:spcAft>
            </a:pPr>
            <a:r>
              <a:rPr lang="en-US" sz="2100" b="1">
                <a:latin typeface="Arial" charset="0"/>
                <a:ea typeface="Calibri" pitchFamily="34" charset="0"/>
                <a:cs typeface="Times New Roman" pitchFamily="18" charset="0"/>
              </a:rPr>
              <a:t>Areas are displayed with three basic fill styles: hollow with a color border, filled with a solid color, or filled with a specified pattern or design. A basic fill style is selected in a PHIGS program with the function </a:t>
            </a:r>
          </a:p>
          <a:p>
            <a:pPr algn="just">
              <a:spcAft>
                <a:spcPts val="1000"/>
              </a:spcAft>
            </a:pPr>
            <a:r>
              <a:rPr lang="en-US" sz="2100" b="1">
                <a:latin typeface="Arial" charset="0"/>
                <a:ea typeface="Calibri" pitchFamily="34" charset="0"/>
                <a:cs typeface="Times New Roman" pitchFamily="18" charset="0"/>
              </a:rPr>
              <a:t>	setInteriorStyle (fs)</a:t>
            </a:r>
          </a:p>
          <a:p>
            <a:pPr algn="just">
              <a:spcAft>
                <a:spcPts val="1000"/>
              </a:spcAft>
            </a:pPr>
            <a:r>
              <a:rPr lang="en-US" sz="2100" b="1">
                <a:latin typeface="Arial" charset="0"/>
                <a:ea typeface="Calibri" pitchFamily="34" charset="0"/>
                <a:cs typeface="Times New Roman" pitchFamily="18" charset="0"/>
              </a:rPr>
              <a:t>values for the fill-style parameter fs include hollow, solid, and pattern (Fig. 4-18).</a:t>
            </a: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COLOR AND GRAYSCALE LEVELS:</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3"/>
          <p:cNvSpPr txBox="1">
            <a:spLocks noChangeArrowheads="1"/>
          </p:cNvSpPr>
          <p:nvPr/>
        </p:nvSpPr>
        <p:spPr bwMode="auto">
          <a:xfrm>
            <a:off x="152400" y="631825"/>
            <a:ext cx="8839200" cy="2354263"/>
          </a:xfrm>
          <a:prstGeom prst="rect">
            <a:avLst/>
          </a:prstGeom>
          <a:noFill/>
          <a:ln w="9525">
            <a:noFill/>
            <a:miter lim="800000"/>
            <a:headEnd/>
            <a:tailEnd/>
          </a:ln>
        </p:spPr>
        <p:txBody>
          <a:bodyPr>
            <a:spAutoFit/>
          </a:bodyPr>
          <a:lstStyle/>
          <a:p>
            <a:pPr algn="just">
              <a:spcAft>
                <a:spcPts val="1000"/>
              </a:spcAft>
            </a:pPr>
            <a:r>
              <a:rPr lang="en-US" sz="2100" b="1">
                <a:latin typeface="Arial" charset="0"/>
                <a:ea typeface="Calibri" pitchFamily="34" charset="0"/>
                <a:cs typeface="Times New Roman" pitchFamily="18" charset="0"/>
              </a:rPr>
              <a:t>Another value for fill style is hatch, which is used to fill an area with selected hatching patterns-parallel lines or crossed lines-as in Fig. 4-19. As with line attributes, a selected fill style value is recorded in the list of system attributes and applied to fill the interiors of subsequently specified areas. Fill selections for parameter fs are normally applied to polygon areas, but they can also be implemented to fill regions with curved boundaries.</a:t>
            </a:r>
            <a:endParaRPr lang="en-US" sz="2100">
              <a:latin typeface="Calibri" pitchFamily="34" charset="0"/>
              <a:ea typeface="Calibri" pitchFamily="34" charset="0"/>
              <a:cs typeface="Times New Roman" pitchFamily="18" charset="0"/>
            </a:endParaRP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COLOR AND GRAYSCALE LEVELS:</a:t>
            </a:r>
          </a:p>
        </p:txBody>
      </p:sp>
      <p:pic>
        <p:nvPicPr>
          <p:cNvPr id="13316" name="Picture 2"/>
          <p:cNvPicPr>
            <a:picLocks noChangeAspect="1" noChangeArrowheads="1"/>
          </p:cNvPicPr>
          <p:nvPr/>
        </p:nvPicPr>
        <p:blipFill>
          <a:blip r:embed="rId2"/>
          <a:srcRect/>
          <a:stretch>
            <a:fillRect/>
          </a:stretch>
        </p:blipFill>
        <p:spPr bwMode="auto">
          <a:xfrm>
            <a:off x="152400" y="3429000"/>
            <a:ext cx="2292350" cy="2057400"/>
          </a:xfrm>
          <a:prstGeom prst="rect">
            <a:avLst/>
          </a:prstGeom>
          <a:noFill/>
          <a:ln w="9525">
            <a:noFill/>
            <a:miter lim="800000"/>
            <a:headEnd/>
            <a:tailEnd/>
          </a:ln>
        </p:spPr>
      </p:pic>
      <p:pic>
        <p:nvPicPr>
          <p:cNvPr id="13317" name="Picture 3"/>
          <p:cNvPicPr>
            <a:picLocks noChangeAspect="1" noChangeArrowheads="1"/>
          </p:cNvPicPr>
          <p:nvPr/>
        </p:nvPicPr>
        <p:blipFill>
          <a:blip r:embed="rId3"/>
          <a:srcRect/>
          <a:stretch>
            <a:fillRect/>
          </a:stretch>
        </p:blipFill>
        <p:spPr bwMode="auto">
          <a:xfrm>
            <a:off x="2590800" y="3429000"/>
            <a:ext cx="2117725" cy="1981200"/>
          </a:xfrm>
          <a:prstGeom prst="rect">
            <a:avLst/>
          </a:prstGeom>
          <a:noFill/>
          <a:ln w="9525">
            <a:noFill/>
            <a:miter lim="800000"/>
            <a:headEnd/>
            <a:tailEnd/>
          </a:ln>
        </p:spPr>
      </p:pic>
      <p:pic>
        <p:nvPicPr>
          <p:cNvPr id="13318" name="Picture 4"/>
          <p:cNvPicPr>
            <a:picLocks noChangeAspect="1" noChangeArrowheads="1"/>
          </p:cNvPicPr>
          <p:nvPr/>
        </p:nvPicPr>
        <p:blipFill>
          <a:blip r:embed="rId4"/>
          <a:srcRect/>
          <a:stretch>
            <a:fillRect/>
          </a:stretch>
        </p:blipFill>
        <p:spPr bwMode="auto">
          <a:xfrm>
            <a:off x="4876800" y="3429000"/>
            <a:ext cx="1981200" cy="1890713"/>
          </a:xfrm>
          <a:prstGeom prst="rect">
            <a:avLst/>
          </a:prstGeom>
          <a:noFill/>
          <a:ln w="9525">
            <a:noFill/>
            <a:miter lim="800000"/>
            <a:headEnd/>
            <a:tailEnd/>
          </a:ln>
        </p:spPr>
      </p:pic>
      <p:sp>
        <p:nvSpPr>
          <p:cNvPr id="13319" name="Rectangle 6"/>
          <p:cNvSpPr>
            <a:spLocks noChangeArrowheads="1"/>
          </p:cNvSpPr>
          <p:nvPr/>
        </p:nvSpPr>
        <p:spPr bwMode="auto">
          <a:xfrm>
            <a:off x="7086600" y="3421063"/>
            <a:ext cx="1752600" cy="1836737"/>
          </a:xfrm>
          <a:prstGeom prst="rect">
            <a:avLst/>
          </a:prstGeom>
          <a:solidFill>
            <a:schemeClr val="tx1"/>
          </a:solidFill>
          <a:ln w="9525" algn="ctr">
            <a:solidFill>
              <a:schemeClr val="tx1"/>
            </a:solidFill>
            <a:round/>
            <a:headEnd/>
            <a:tailEnd/>
          </a:ln>
        </p:spPr>
        <p:txBody>
          <a:bodyPr anchor="ctr"/>
          <a:lstStyle/>
          <a:p>
            <a:endParaRPr lang="en-US"/>
          </a:p>
        </p:txBody>
      </p:sp>
      <p:cxnSp>
        <p:nvCxnSpPr>
          <p:cNvPr id="13320" name="Straight Connector 8"/>
          <p:cNvCxnSpPr>
            <a:cxnSpLocks noChangeShapeType="1"/>
          </p:cNvCxnSpPr>
          <p:nvPr/>
        </p:nvCxnSpPr>
        <p:spPr bwMode="auto">
          <a:xfrm rot="5400000">
            <a:off x="7162800" y="3505200"/>
            <a:ext cx="457200" cy="304800"/>
          </a:xfrm>
          <a:prstGeom prst="line">
            <a:avLst/>
          </a:prstGeom>
          <a:noFill/>
          <a:ln w="9525" algn="ctr">
            <a:solidFill>
              <a:schemeClr val="bg2"/>
            </a:solidFill>
            <a:round/>
            <a:headEnd/>
            <a:tailEnd/>
          </a:ln>
        </p:spPr>
      </p:cxnSp>
      <p:cxnSp>
        <p:nvCxnSpPr>
          <p:cNvPr id="13321" name="Straight Connector 9"/>
          <p:cNvCxnSpPr>
            <a:cxnSpLocks noChangeShapeType="1"/>
            <a:endCxn id="13319" idx="1"/>
          </p:cNvCxnSpPr>
          <p:nvPr/>
        </p:nvCxnSpPr>
        <p:spPr bwMode="auto">
          <a:xfrm rot="5400000">
            <a:off x="7008812" y="3498851"/>
            <a:ext cx="917575" cy="762000"/>
          </a:xfrm>
          <a:prstGeom prst="line">
            <a:avLst/>
          </a:prstGeom>
          <a:noFill/>
          <a:ln w="9525" algn="ctr">
            <a:solidFill>
              <a:schemeClr val="bg2"/>
            </a:solidFill>
            <a:round/>
            <a:headEnd/>
            <a:tailEnd/>
          </a:ln>
        </p:spPr>
      </p:cxnSp>
      <p:cxnSp>
        <p:nvCxnSpPr>
          <p:cNvPr id="13322" name="Straight Connector 10"/>
          <p:cNvCxnSpPr>
            <a:cxnSpLocks noChangeShapeType="1"/>
            <a:stCxn id="13319" idx="0"/>
          </p:cNvCxnSpPr>
          <p:nvPr/>
        </p:nvCxnSpPr>
        <p:spPr bwMode="auto">
          <a:xfrm rot="-5400000" flipH="1" flipV="1">
            <a:off x="6953250" y="3630613"/>
            <a:ext cx="1219200" cy="800100"/>
          </a:xfrm>
          <a:prstGeom prst="line">
            <a:avLst/>
          </a:prstGeom>
          <a:noFill/>
          <a:ln w="9525" algn="ctr">
            <a:solidFill>
              <a:schemeClr val="bg2"/>
            </a:solidFill>
            <a:round/>
            <a:headEnd/>
            <a:tailEnd/>
          </a:ln>
        </p:spPr>
      </p:cxnSp>
      <p:cxnSp>
        <p:nvCxnSpPr>
          <p:cNvPr id="13323" name="Straight Connector 11"/>
          <p:cNvCxnSpPr>
            <a:cxnSpLocks noChangeShapeType="1"/>
          </p:cNvCxnSpPr>
          <p:nvPr/>
        </p:nvCxnSpPr>
        <p:spPr bwMode="auto">
          <a:xfrm rot="5400000">
            <a:off x="7620000" y="3810000"/>
            <a:ext cx="1371600" cy="1066800"/>
          </a:xfrm>
          <a:prstGeom prst="line">
            <a:avLst/>
          </a:prstGeom>
          <a:noFill/>
          <a:ln w="9525" algn="ctr">
            <a:solidFill>
              <a:schemeClr val="bg2"/>
            </a:solidFill>
            <a:round/>
            <a:headEnd/>
            <a:tailEnd/>
          </a:ln>
        </p:spPr>
      </p:cxnSp>
      <p:cxnSp>
        <p:nvCxnSpPr>
          <p:cNvPr id="13324" name="Straight Connector 12"/>
          <p:cNvCxnSpPr>
            <a:cxnSpLocks noChangeShapeType="1"/>
          </p:cNvCxnSpPr>
          <p:nvPr/>
        </p:nvCxnSpPr>
        <p:spPr bwMode="auto">
          <a:xfrm rot="5400000">
            <a:off x="7239000" y="3657600"/>
            <a:ext cx="1600200" cy="1143000"/>
          </a:xfrm>
          <a:prstGeom prst="line">
            <a:avLst/>
          </a:prstGeom>
          <a:noFill/>
          <a:ln w="9525" algn="ctr">
            <a:solidFill>
              <a:schemeClr val="bg2"/>
            </a:solidFill>
            <a:round/>
            <a:headEnd/>
            <a:tailEnd/>
          </a:ln>
        </p:spPr>
      </p:cxnSp>
      <p:cxnSp>
        <p:nvCxnSpPr>
          <p:cNvPr id="13325" name="Straight Connector 23"/>
          <p:cNvCxnSpPr>
            <a:cxnSpLocks noChangeShapeType="1"/>
          </p:cNvCxnSpPr>
          <p:nvPr/>
        </p:nvCxnSpPr>
        <p:spPr bwMode="auto">
          <a:xfrm rot="5400000">
            <a:off x="7086600" y="3581400"/>
            <a:ext cx="1371600" cy="1066800"/>
          </a:xfrm>
          <a:prstGeom prst="line">
            <a:avLst/>
          </a:prstGeom>
          <a:noFill/>
          <a:ln w="9525" algn="ctr">
            <a:solidFill>
              <a:schemeClr val="bg2"/>
            </a:solidFill>
            <a:round/>
            <a:headEnd/>
            <a:tailEnd/>
          </a:ln>
        </p:spPr>
      </p:cxnSp>
      <p:cxnSp>
        <p:nvCxnSpPr>
          <p:cNvPr id="13326" name="Straight Connector 25"/>
          <p:cNvCxnSpPr>
            <a:cxnSpLocks noChangeShapeType="1"/>
          </p:cNvCxnSpPr>
          <p:nvPr/>
        </p:nvCxnSpPr>
        <p:spPr bwMode="auto">
          <a:xfrm rot="5400000">
            <a:off x="8134350" y="4286250"/>
            <a:ext cx="800100" cy="609600"/>
          </a:xfrm>
          <a:prstGeom prst="line">
            <a:avLst/>
          </a:prstGeom>
          <a:noFill/>
          <a:ln w="9525" algn="ctr">
            <a:solidFill>
              <a:schemeClr val="bg2"/>
            </a:solidFill>
            <a:round/>
            <a:headEnd/>
            <a:tailEnd/>
          </a:ln>
        </p:spPr>
      </p:cxnSp>
      <p:cxnSp>
        <p:nvCxnSpPr>
          <p:cNvPr id="13327" name="Straight Connector 26"/>
          <p:cNvCxnSpPr>
            <a:cxnSpLocks noChangeShapeType="1"/>
          </p:cNvCxnSpPr>
          <p:nvPr/>
        </p:nvCxnSpPr>
        <p:spPr bwMode="auto">
          <a:xfrm rot="5400000">
            <a:off x="8458200" y="4648200"/>
            <a:ext cx="457200" cy="304800"/>
          </a:xfrm>
          <a:prstGeom prst="line">
            <a:avLst/>
          </a:prstGeom>
          <a:noFill/>
          <a:ln w="9525" algn="ctr">
            <a:solidFill>
              <a:schemeClr val="bg2"/>
            </a:solidFill>
            <a:round/>
            <a:headEnd/>
            <a:tailEnd/>
          </a:ln>
        </p:spPr>
      </p:cxn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3"/>
          <p:cNvSpPr txBox="1">
            <a:spLocks noChangeArrowheads="1"/>
          </p:cNvSpPr>
          <p:nvPr/>
        </p:nvSpPr>
        <p:spPr bwMode="auto">
          <a:xfrm>
            <a:off x="152400" y="631825"/>
            <a:ext cx="8839200" cy="5851525"/>
          </a:xfrm>
          <a:prstGeom prst="rect">
            <a:avLst/>
          </a:prstGeom>
          <a:noFill/>
          <a:ln w="9525">
            <a:noFill/>
            <a:miter lim="800000"/>
            <a:headEnd/>
            <a:tailEnd/>
          </a:ln>
        </p:spPr>
        <p:txBody>
          <a:bodyPr>
            <a:spAutoFit/>
          </a:bodyPr>
          <a:lstStyle/>
          <a:p>
            <a:pPr algn="just">
              <a:spcAft>
                <a:spcPts val="1000"/>
              </a:spcAft>
            </a:pPr>
            <a:r>
              <a:rPr lang="en-US" sz="2100" b="1">
                <a:latin typeface="Arial" charset="0"/>
                <a:ea typeface="Calibri" pitchFamily="34" charset="0"/>
                <a:cs typeface="Times New Roman" pitchFamily="18" charset="0"/>
              </a:rPr>
              <a:t>Hollow areas are displayed using only the boundary outline, with the interior color the same as the background color. A solid fill is displayed in a single color up to and including the borders of the region. The color for a solid interior or for a hollow area outline is chosen with </a:t>
            </a:r>
          </a:p>
          <a:p>
            <a:pPr algn="just">
              <a:spcAft>
                <a:spcPts val="1000"/>
              </a:spcAft>
            </a:pPr>
            <a:r>
              <a:rPr lang="en-US" sz="2100" b="1">
                <a:latin typeface="Arial" charset="0"/>
                <a:ea typeface="Calibri" pitchFamily="34" charset="0"/>
                <a:cs typeface="Times New Roman" pitchFamily="18" charset="0"/>
              </a:rPr>
              <a:t>	setInteriorColorIndex( fc )</a:t>
            </a:r>
          </a:p>
          <a:p>
            <a:pPr algn="just">
              <a:spcAft>
                <a:spcPts val="1000"/>
              </a:spcAft>
            </a:pPr>
            <a:r>
              <a:rPr lang="en-US" sz="2100" b="1">
                <a:latin typeface="Arial" charset="0"/>
                <a:ea typeface="Calibri" pitchFamily="34" charset="0"/>
                <a:cs typeface="Times New Roman" pitchFamily="18" charset="0"/>
              </a:rPr>
              <a:t>where fill color parameter fc is set to the desired color code. A polygon hollow fill is generated with a line drawing routine as a closed polyline. </a:t>
            </a:r>
          </a:p>
          <a:p>
            <a:pPr algn="just">
              <a:spcAft>
                <a:spcPts val="1000"/>
              </a:spcAft>
            </a:pPr>
            <a:endParaRPr lang="en-US" sz="400" b="1">
              <a:latin typeface="Arial" charset="0"/>
              <a:ea typeface="Calibri" pitchFamily="34" charset="0"/>
              <a:cs typeface="Times New Roman" pitchFamily="18" charset="0"/>
            </a:endParaRPr>
          </a:p>
          <a:p>
            <a:pPr algn="just">
              <a:spcAft>
                <a:spcPts val="1000"/>
              </a:spcAft>
            </a:pPr>
            <a:r>
              <a:rPr lang="en-US" sz="2100" b="1">
                <a:latin typeface="Arial" charset="0"/>
                <a:ea typeface="Calibri" pitchFamily="34" charset="0"/>
                <a:cs typeface="Times New Roman" pitchFamily="18" charset="0"/>
              </a:rPr>
              <a:t>Other fill options include specifications for the edge type, edge width, and edge color of a region. These attributes are set independently of the fill style or fill color, and they provide for the same options as the line-attribute parameters (line type, line width, and line color). That is, we can display area edges dotted or dashed, fat or thin, and in any available color regardless of how we have filled the interior.</a:t>
            </a: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COLOR AND GRAYSCALE LEVELS:</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
          <p:cNvSpPr txBox="1">
            <a:spLocks noChangeArrowheads="1"/>
          </p:cNvSpPr>
          <p:nvPr/>
        </p:nvSpPr>
        <p:spPr bwMode="auto">
          <a:xfrm>
            <a:off x="152400" y="631825"/>
            <a:ext cx="8839200" cy="5883275"/>
          </a:xfrm>
          <a:prstGeom prst="rect">
            <a:avLst/>
          </a:prstGeom>
          <a:noFill/>
          <a:ln w="9525">
            <a:noFill/>
            <a:miter lim="800000"/>
            <a:headEnd/>
            <a:tailEnd/>
          </a:ln>
        </p:spPr>
        <p:txBody>
          <a:bodyPr>
            <a:spAutoFit/>
          </a:bodyPr>
          <a:lstStyle/>
          <a:p>
            <a:pPr algn="just">
              <a:spcAft>
                <a:spcPts val="1000"/>
              </a:spcAft>
            </a:pPr>
            <a:r>
              <a:rPr lang="en-US" sz="2300" b="1">
                <a:latin typeface="Arial" charset="0"/>
                <a:ea typeface="Calibri" pitchFamily="34" charset="0"/>
                <a:cs typeface="Times New Roman" pitchFamily="18" charset="0"/>
              </a:rPr>
              <a:t>The appearance of displayed characters is controlled by attributes such as font, size, color, and orientation. Attributes can be set both for entire character strings (text) and for individual characters defined as marker symbols.</a:t>
            </a:r>
          </a:p>
          <a:p>
            <a:pPr algn="just"/>
            <a:r>
              <a:rPr lang="en-US" sz="2300" b="1">
                <a:latin typeface="Arial" charset="0"/>
                <a:ea typeface="Calibri" pitchFamily="34" charset="0"/>
                <a:cs typeface="Times New Roman" pitchFamily="18" charset="0"/>
              </a:rPr>
              <a:t>There are a great many text options that can be made available to graphics programmers. First of all, there is the choice of font (or typeface), which is a set of characters with a particular design style such as New York, Courier, Helvetica, London, 'Times Roman, and various special symbol groups. The characters in a  selected font can also be displayed with assorted underlining styles (solid, dotted, double) in boldface, in italics. and in outline or shadow styles. A particular font and associated style is selected in a PHlGS program by setting an integer code for the text font parameter tf in the function</a:t>
            </a:r>
          </a:p>
          <a:p>
            <a:pPr algn="just"/>
            <a:endParaRPr lang="en-IN" sz="2300" b="1">
              <a:latin typeface="Arial" charset="0"/>
              <a:ea typeface="Calibri" pitchFamily="34" charset="0"/>
              <a:cs typeface="Times New Roman" pitchFamily="18" charset="0"/>
            </a:endParaRPr>
          </a:p>
          <a:p>
            <a:pPr algn="just"/>
            <a:r>
              <a:rPr lang="en-IN" sz="2300" b="1">
                <a:latin typeface="Arial" charset="0"/>
                <a:ea typeface="Calibri" pitchFamily="34" charset="0"/>
                <a:cs typeface="Times New Roman" pitchFamily="18" charset="0"/>
              </a:rPr>
              <a:t>                     setTextFont (tf)</a:t>
            </a:r>
            <a:endParaRPr lang="en-US" sz="2300" b="1">
              <a:latin typeface="Arial" charset="0"/>
              <a:ea typeface="Calibri" pitchFamily="34" charset="0"/>
              <a:cs typeface="Times New Roman" pitchFamily="18" charset="0"/>
            </a:endParaRP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CHARACTER ATTRIBUTES:</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3"/>
          <p:cNvSpPr txBox="1">
            <a:spLocks noChangeArrowheads="1"/>
          </p:cNvSpPr>
          <p:nvPr/>
        </p:nvSpPr>
        <p:spPr bwMode="auto">
          <a:xfrm>
            <a:off x="152400" y="631825"/>
            <a:ext cx="8839200" cy="5561013"/>
          </a:xfrm>
          <a:prstGeom prst="rect">
            <a:avLst/>
          </a:prstGeom>
          <a:noFill/>
          <a:ln w="9525">
            <a:noFill/>
            <a:miter lim="800000"/>
            <a:headEnd/>
            <a:tailEnd/>
          </a:ln>
        </p:spPr>
        <p:txBody>
          <a:bodyPr>
            <a:spAutoFit/>
          </a:bodyPr>
          <a:lstStyle/>
          <a:p>
            <a:pPr algn="just">
              <a:spcAft>
                <a:spcPts val="1000"/>
              </a:spcAft>
            </a:pPr>
            <a:r>
              <a:rPr lang="en-US" sz="2300" b="1">
                <a:latin typeface="Arial" charset="0"/>
                <a:ea typeface="Calibri" pitchFamily="34" charset="0"/>
                <a:cs typeface="Times New Roman" pitchFamily="18" charset="0"/>
              </a:rPr>
              <a:t>Font options can be made available as predefined sets of grid patterns or as character sets designed with polylines and spline curves.</a:t>
            </a:r>
          </a:p>
          <a:p>
            <a:pPr algn="just">
              <a:spcAft>
                <a:spcPts val="1000"/>
              </a:spcAft>
            </a:pPr>
            <a:r>
              <a:rPr lang="en-US" sz="2300" b="1">
                <a:latin typeface="Arial" charset="0"/>
                <a:ea typeface="Calibri" pitchFamily="34" charset="0"/>
                <a:cs typeface="Times New Roman" pitchFamily="18" charset="0"/>
              </a:rPr>
              <a:t>Color settings for displayed text are stored in the system attribute list and used by the procedures that load character definitions into the frame buffer. When a character string is to be displayed, the current color is used to set pixel values in the frame buffer corresponding to the character shapes and positions.</a:t>
            </a:r>
          </a:p>
          <a:p>
            <a:pPr algn="just">
              <a:spcAft>
                <a:spcPts val="1000"/>
              </a:spcAft>
            </a:pPr>
            <a:r>
              <a:rPr lang="en-US" sz="2300" b="1">
                <a:latin typeface="Arial" charset="0"/>
                <a:ea typeface="Calibri" pitchFamily="34" charset="0"/>
                <a:cs typeface="Times New Roman" pitchFamily="18" charset="0"/>
              </a:rPr>
              <a:t>Control of text color (or intensity) is managed from an application program with</a:t>
            </a:r>
          </a:p>
          <a:p>
            <a:pPr algn="just">
              <a:spcAft>
                <a:spcPts val="1000"/>
              </a:spcAft>
            </a:pPr>
            <a:r>
              <a:rPr lang="en-IN" sz="2300" b="1">
                <a:latin typeface="Arial" charset="0"/>
                <a:ea typeface="Calibri" pitchFamily="34" charset="0"/>
                <a:cs typeface="Times New Roman" pitchFamily="18" charset="0"/>
              </a:rPr>
              <a:t>	setTextColourIndex (tc)</a:t>
            </a:r>
            <a:endParaRPr lang="en-US" sz="2300" b="1">
              <a:latin typeface="Arial" charset="0"/>
              <a:ea typeface="Calibri" pitchFamily="34" charset="0"/>
              <a:cs typeface="Times New Roman" pitchFamily="18" charset="0"/>
            </a:endParaRPr>
          </a:p>
          <a:p>
            <a:pPr algn="just">
              <a:spcAft>
                <a:spcPts val="1000"/>
              </a:spcAft>
            </a:pPr>
            <a:r>
              <a:rPr lang="en-US" sz="2300" b="1">
                <a:latin typeface="Arial" charset="0"/>
                <a:ea typeface="Calibri" pitchFamily="34" charset="0"/>
                <a:cs typeface="Times New Roman" pitchFamily="18" charset="0"/>
              </a:rPr>
              <a:t>where text color parameter tc specifies an allowable color code.</a:t>
            </a: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CHARACTER ATTRIBUTES:</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3"/>
          <p:cNvSpPr txBox="1">
            <a:spLocks noChangeArrowheads="1"/>
          </p:cNvSpPr>
          <p:nvPr/>
        </p:nvSpPr>
        <p:spPr bwMode="auto">
          <a:xfrm>
            <a:off x="152400" y="631825"/>
            <a:ext cx="8839200" cy="6069013"/>
          </a:xfrm>
          <a:prstGeom prst="rect">
            <a:avLst/>
          </a:prstGeom>
          <a:noFill/>
          <a:ln w="9525">
            <a:noFill/>
            <a:miter lim="800000"/>
            <a:headEnd/>
            <a:tailEnd/>
          </a:ln>
        </p:spPr>
        <p:txBody>
          <a:bodyPr>
            <a:spAutoFit/>
          </a:bodyPr>
          <a:lstStyle/>
          <a:p>
            <a:pPr algn="just">
              <a:spcAft>
                <a:spcPts val="1000"/>
              </a:spcAft>
            </a:pPr>
            <a:r>
              <a:rPr lang="en-US" sz="2000" b="1">
                <a:latin typeface="Arial" charset="0"/>
                <a:ea typeface="Calibri" pitchFamily="34" charset="0"/>
                <a:cs typeface="Times New Roman" pitchFamily="18" charset="0"/>
              </a:rPr>
              <a:t>We can adjust text size by scaling the overall dimensions (height and width) of characters or by scaling only the character width. Character size is specified by printers and compositors in points, where 1 point is 0.013837 inch (or approximately 1/72 inch). For example, the text you are now reading is a 10-point font Point measurements specify the size of the body of a character (Fig. 4-25), but different fonts with the same point specifications can have different character sizes, depending on the design of the typeface. </a:t>
            </a:r>
          </a:p>
          <a:p>
            <a:pPr algn="just">
              <a:spcAft>
                <a:spcPts val="1000"/>
              </a:spcAft>
            </a:pPr>
            <a:r>
              <a:rPr lang="en-US" sz="2000" b="1">
                <a:latin typeface="Arial" charset="0"/>
                <a:ea typeface="Calibri" pitchFamily="34" charset="0"/>
                <a:cs typeface="Times New Roman" pitchFamily="18" charset="0"/>
              </a:rPr>
              <a:t>The distance </a:t>
            </a:r>
            <a:r>
              <a:rPr lang="en-US" sz="2000" b="1">
                <a:latin typeface="Arial" charset="0"/>
                <a:ea typeface="Calibri" pitchFamily="34" charset="0"/>
                <a:cs typeface="Arial" charset="0"/>
              </a:rPr>
              <a:t>between the bottomline and the topline of the character body is the same for all characters in a particular size and typeface, but the body width may vary. Proportionally spaced fonts assign a smaller body width to narrow characters such as i, j, 1, and f compared to broad characters such as W or M. Character height is defined as the distance between the baseline </a:t>
            </a:r>
            <a:r>
              <a:rPr lang="en-US" sz="2000" b="1">
                <a:latin typeface="Arial" charset="0"/>
                <a:ea typeface="Calibri" pitchFamily="34" charset="0"/>
                <a:cs typeface="Times New Roman" pitchFamily="18" charset="0"/>
              </a:rPr>
              <a:t>and the capline of characters. Kerned characters, such as f and j in Fig. 4-25, typically extend beyond the character-body limits, and letters with descenders (g, j, p, q, y) extend below the baseline. Each character is positioned within the character body by a font designer to allow suitable spacing along and between print lines when text is displayed with character bodies touching.</a:t>
            </a: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CHARACTER ATTRIBUTES:</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CHARACTER ATTRIBUTES:</a:t>
            </a:r>
          </a:p>
        </p:txBody>
      </p:sp>
      <p:pic>
        <p:nvPicPr>
          <p:cNvPr id="18435" name="Picture 2"/>
          <p:cNvPicPr>
            <a:picLocks noChangeAspect="1" noChangeArrowheads="1"/>
          </p:cNvPicPr>
          <p:nvPr/>
        </p:nvPicPr>
        <p:blipFill>
          <a:blip r:embed="rId2">
            <a:lum bright="-20000" contrast="30000"/>
          </a:blip>
          <a:srcRect/>
          <a:stretch>
            <a:fillRect/>
          </a:stretch>
        </p:blipFill>
        <p:spPr bwMode="auto">
          <a:xfrm>
            <a:off x="228600" y="1981200"/>
            <a:ext cx="5062538" cy="3505200"/>
          </a:xfrm>
          <a:prstGeom prst="rect">
            <a:avLst/>
          </a:prstGeom>
          <a:noFill/>
          <a:ln w="9525">
            <a:noFill/>
            <a:miter lim="800000"/>
            <a:headEnd/>
            <a:tailEnd/>
          </a:ln>
        </p:spPr>
      </p:pic>
      <p:pic>
        <p:nvPicPr>
          <p:cNvPr id="18436" name="Picture 3"/>
          <p:cNvPicPr>
            <a:picLocks noChangeAspect="1" noChangeArrowheads="1"/>
          </p:cNvPicPr>
          <p:nvPr/>
        </p:nvPicPr>
        <p:blipFill>
          <a:blip r:embed="rId3"/>
          <a:srcRect/>
          <a:stretch>
            <a:fillRect/>
          </a:stretch>
        </p:blipFill>
        <p:spPr bwMode="auto">
          <a:xfrm>
            <a:off x="5562600" y="1981200"/>
            <a:ext cx="3168650" cy="2133600"/>
          </a:xfrm>
          <a:prstGeom prst="rect">
            <a:avLst/>
          </a:prstGeom>
          <a:noFill/>
          <a:ln w="9525">
            <a:noFill/>
            <a:miter lim="800000"/>
            <a:headEnd/>
            <a:tailEnd/>
          </a:ln>
        </p:spPr>
      </p:pic>
      <p:sp>
        <p:nvSpPr>
          <p:cNvPr id="18437" name="Text Box 3"/>
          <p:cNvSpPr txBox="1">
            <a:spLocks noChangeArrowheads="1"/>
          </p:cNvSpPr>
          <p:nvPr/>
        </p:nvSpPr>
        <p:spPr bwMode="auto">
          <a:xfrm>
            <a:off x="5638800" y="4343400"/>
            <a:ext cx="3200400" cy="1016000"/>
          </a:xfrm>
          <a:prstGeom prst="rect">
            <a:avLst/>
          </a:prstGeom>
          <a:noFill/>
          <a:ln w="9525">
            <a:noFill/>
            <a:miter lim="800000"/>
            <a:headEnd/>
            <a:tailEnd/>
          </a:ln>
        </p:spPr>
        <p:txBody>
          <a:bodyPr>
            <a:spAutoFit/>
          </a:bodyPr>
          <a:lstStyle/>
          <a:p>
            <a:pPr algn="just">
              <a:spcAft>
                <a:spcPts val="1000"/>
              </a:spcAft>
            </a:pPr>
            <a:r>
              <a:rPr lang="en-IN" sz="2000" b="1">
                <a:latin typeface="Arial" charset="0"/>
                <a:ea typeface="Calibri" pitchFamily="34" charset="0"/>
                <a:cs typeface="Times New Roman" pitchFamily="18" charset="0"/>
              </a:rPr>
              <a:t>The effect of different character height setting on displayed text</a:t>
            </a:r>
            <a:endParaRPr lang="en-US" sz="2000" b="1">
              <a:latin typeface="Arial" charset="0"/>
              <a:ea typeface="Calibri" pitchFamily="34" charset="0"/>
              <a:cs typeface="Times New Roman" pitchFamily="18" charset="0"/>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3"/>
          <p:cNvSpPr txBox="1">
            <a:spLocks noChangeArrowheads="1"/>
          </p:cNvSpPr>
          <p:nvPr/>
        </p:nvSpPr>
        <p:spPr bwMode="auto">
          <a:xfrm>
            <a:off x="152400" y="631825"/>
            <a:ext cx="8839200" cy="4724400"/>
          </a:xfrm>
          <a:prstGeom prst="rect">
            <a:avLst/>
          </a:prstGeom>
          <a:noFill/>
          <a:ln w="9525">
            <a:noFill/>
            <a:miter lim="800000"/>
            <a:headEnd/>
            <a:tailEnd/>
          </a:ln>
        </p:spPr>
        <p:txBody>
          <a:bodyPr>
            <a:spAutoFit/>
          </a:bodyPr>
          <a:lstStyle/>
          <a:p>
            <a:pPr algn="just">
              <a:spcAft>
                <a:spcPts val="1000"/>
              </a:spcAft>
            </a:pPr>
            <a:r>
              <a:rPr lang="en-US" sz="2300" b="1">
                <a:latin typeface="Arial" charset="0"/>
                <a:ea typeface="Calibri" pitchFamily="34" charset="0"/>
                <a:cs typeface="Times New Roman" pitchFamily="18" charset="0"/>
              </a:rPr>
              <a:t>Text size can be adjusted without changing the width-to-height ratio of characters with</a:t>
            </a:r>
          </a:p>
          <a:p>
            <a:pPr algn="just">
              <a:spcAft>
                <a:spcPts val="1000"/>
              </a:spcAft>
            </a:pPr>
            <a:r>
              <a:rPr lang="en-IN" sz="2300" b="1">
                <a:latin typeface="Arial" charset="0"/>
                <a:ea typeface="Calibri" pitchFamily="34" charset="0"/>
                <a:cs typeface="Times New Roman" pitchFamily="18" charset="0"/>
              </a:rPr>
              <a:t>	setCharacterHeight (ch)</a:t>
            </a:r>
          </a:p>
          <a:p>
            <a:pPr algn="just">
              <a:spcAft>
                <a:spcPts val="1000"/>
              </a:spcAft>
            </a:pPr>
            <a:r>
              <a:rPr lang="en-US" sz="2300" b="1">
                <a:latin typeface="Arial" charset="0"/>
                <a:ea typeface="Calibri" pitchFamily="34" charset="0"/>
                <a:cs typeface="Times New Roman" pitchFamily="18" charset="0"/>
              </a:rPr>
              <a:t>Parameter ch is assigned a real value greater than 0 to set the coordinate height of capital letters: the distance between baseline and capline in user coordinates. This setting also affects character-body size, so that the width and spacing of characters is adjusted to maintain the same text proportions. For instance, doubling the height also doubles the character width and the spacing between characters.</a:t>
            </a:r>
          </a:p>
          <a:p>
            <a:pPr algn="just">
              <a:spcAft>
                <a:spcPts val="1000"/>
              </a:spcAft>
            </a:pPr>
            <a:r>
              <a:rPr lang="en-US" sz="2300" b="1">
                <a:latin typeface="Arial" charset="0"/>
                <a:ea typeface="Calibri" pitchFamily="34" charset="0"/>
                <a:cs typeface="Times New Roman" pitchFamily="18" charset="0"/>
              </a:rPr>
              <a:t>Figure 4-26 shows a character string displayed with three different character heights.</a:t>
            </a: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CHARACTER ATTRIBUTES:</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3"/>
          <p:cNvSpPr txBox="1">
            <a:spLocks noChangeArrowheads="1"/>
          </p:cNvSpPr>
          <p:nvPr/>
        </p:nvSpPr>
        <p:spPr bwMode="auto">
          <a:xfrm>
            <a:off x="152400" y="631825"/>
            <a:ext cx="8839200" cy="6027738"/>
          </a:xfrm>
          <a:prstGeom prst="rect">
            <a:avLst/>
          </a:prstGeom>
          <a:noFill/>
          <a:ln w="9525">
            <a:noFill/>
            <a:miter lim="800000"/>
            <a:headEnd/>
            <a:tailEnd/>
          </a:ln>
        </p:spPr>
        <p:txBody>
          <a:bodyPr>
            <a:spAutoFit/>
          </a:bodyPr>
          <a:lstStyle/>
          <a:p>
            <a:pPr algn="just">
              <a:spcAft>
                <a:spcPts val="1000"/>
              </a:spcAft>
            </a:pPr>
            <a:r>
              <a:rPr lang="en-US" sz="2200" b="1">
                <a:latin typeface="Arial" charset="0"/>
                <a:ea typeface="Calibri" pitchFamily="34" charset="0"/>
                <a:cs typeface="Times New Roman" pitchFamily="18" charset="0"/>
              </a:rPr>
              <a:t>The width only of text can be set with the function </a:t>
            </a:r>
          </a:p>
          <a:p>
            <a:pPr algn="just">
              <a:spcAft>
                <a:spcPts val="1000"/>
              </a:spcAft>
            </a:pPr>
            <a:r>
              <a:rPr lang="en-IN" sz="2200" b="1">
                <a:latin typeface="Arial" charset="0"/>
                <a:ea typeface="Calibri" pitchFamily="34" charset="0"/>
                <a:cs typeface="Times New Roman" pitchFamily="18" charset="0"/>
              </a:rPr>
              <a:t>	setCharacterExpansionFactor (cw)</a:t>
            </a:r>
            <a:endParaRPr lang="en-US" sz="2200" b="1">
              <a:latin typeface="Arial" charset="0"/>
              <a:ea typeface="Calibri" pitchFamily="34" charset="0"/>
              <a:cs typeface="Times New Roman" pitchFamily="18" charset="0"/>
            </a:endParaRPr>
          </a:p>
          <a:p>
            <a:pPr algn="just">
              <a:spcAft>
                <a:spcPts val="1000"/>
              </a:spcAft>
            </a:pPr>
            <a:r>
              <a:rPr lang="en-US" sz="2200" b="1">
                <a:latin typeface="Arial" charset="0"/>
                <a:ea typeface="Calibri" pitchFamily="34" charset="0"/>
                <a:cs typeface="Times New Roman" pitchFamily="18" charset="0"/>
              </a:rPr>
              <a:t>where the character-width parameter cw is set to a positive real value that scales the body width of characters. Text height is unaffected by this attribute setting. Examples of text displayed with different character expansions is given in Fig. 4-27. </a:t>
            </a:r>
          </a:p>
          <a:p>
            <a:pPr algn="just">
              <a:spcAft>
                <a:spcPts val="1000"/>
              </a:spcAft>
            </a:pPr>
            <a:r>
              <a:rPr lang="en-US" sz="2200" b="1">
                <a:latin typeface="Arial" charset="0"/>
                <a:ea typeface="Calibri" pitchFamily="34" charset="0"/>
                <a:cs typeface="Times New Roman" pitchFamily="18" charset="0"/>
              </a:rPr>
              <a:t>Spacing between characters is controlled separately with </a:t>
            </a:r>
          </a:p>
          <a:p>
            <a:pPr algn="just">
              <a:spcAft>
                <a:spcPts val="1000"/>
              </a:spcAft>
            </a:pPr>
            <a:r>
              <a:rPr lang="en-IN" sz="2200" b="1">
                <a:latin typeface="Arial" charset="0"/>
                <a:ea typeface="Calibri" pitchFamily="34" charset="0"/>
                <a:cs typeface="Times New Roman" pitchFamily="18" charset="0"/>
              </a:rPr>
              <a:t>	setCharacterSpacing (cs)</a:t>
            </a:r>
            <a:endParaRPr lang="en-US" sz="2200" b="1">
              <a:latin typeface="Arial" charset="0"/>
              <a:ea typeface="Calibri" pitchFamily="34" charset="0"/>
              <a:cs typeface="Times New Roman" pitchFamily="18" charset="0"/>
            </a:endParaRPr>
          </a:p>
          <a:p>
            <a:pPr algn="just">
              <a:spcAft>
                <a:spcPts val="1000"/>
              </a:spcAft>
            </a:pPr>
            <a:r>
              <a:rPr lang="en-US" sz="2100" b="1">
                <a:latin typeface="Arial" charset="0"/>
                <a:ea typeface="Calibri" pitchFamily="34" charset="0"/>
                <a:cs typeface="Times New Roman" pitchFamily="18" charset="0"/>
              </a:rPr>
              <a:t>where the character-spacing parameter cs can be assigned any real value. The value assigned to cs determines the spacing between character bodes along print lines. Negative values for cs overlap character bodies; positive values insert space to spread out the displayed characters. Assigning the value 0 to cs causes text to be displayed with no space between character bodies. The amount of spacing to be applied is determined by multiplying the value of cs by the character height (distance between baseline and capline). </a:t>
            </a: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CHARACTER ATTRIBUTES:</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3"/>
          <p:cNvSpPr txBox="1">
            <a:spLocks noChangeArrowheads="1"/>
          </p:cNvSpPr>
          <p:nvPr/>
        </p:nvSpPr>
        <p:spPr bwMode="auto">
          <a:xfrm>
            <a:off x="152400" y="631825"/>
            <a:ext cx="8839200" cy="800100"/>
          </a:xfrm>
          <a:prstGeom prst="rect">
            <a:avLst/>
          </a:prstGeom>
          <a:noFill/>
          <a:ln w="9525">
            <a:noFill/>
            <a:miter lim="800000"/>
            <a:headEnd/>
            <a:tailEnd/>
          </a:ln>
        </p:spPr>
        <p:txBody>
          <a:bodyPr>
            <a:spAutoFit/>
          </a:bodyPr>
          <a:lstStyle/>
          <a:p>
            <a:pPr algn="just">
              <a:spcAft>
                <a:spcPts val="1000"/>
              </a:spcAft>
            </a:pPr>
            <a:r>
              <a:rPr lang="en-US" sz="2300" b="1">
                <a:latin typeface="Arial" charset="0"/>
                <a:ea typeface="Calibri" pitchFamily="34" charset="0"/>
                <a:cs typeface="Times New Roman" pitchFamily="18" charset="0"/>
              </a:rPr>
              <a:t>In Fig. 4-28, a character string is displayed with three different settings for the character-spacing parameter.</a:t>
            </a: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CHARACTER ATTRIBUTES:</a:t>
            </a:r>
          </a:p>
        </p:txBody>
      </p:sp>
      <p:pic>
        <p:nvPicPr>
          <p:cNvPr id="21508" name="Picture 2"/>
          <p:cNvPicPr>
            <a:picLocks noChangeAspect="1" noChangeArrowheads="1"/>
          </p:cNvPicPr>
          <p:nvPr/>
        </p:nvPicPr>
        <p:blipFill>
          <a:blip r:embed="rId2">
            <a:lum bright="-20000" contrast="30000"/>
          </a:blip>
          <a:srcRect/>
          <a:stretch>
            <a:fillRect/>
          </a:stretch>
        </p:blipFill>
        <p:spPr bwMode="auto">
          <a:xfrm>
            <a:off x="1371600" y="1676400"/>
            <a:ext cx="2890838" cy="3124200"/>
          </a:xfrm>
          <a:prstGeom prst="rect">
            <a:avLst/>
          </a:prstGeom>
          <a:noFill/>
          <a:ln w="9525">
            <a:noFill/>
            <a:miter lim="800000"/>
            <a:headEnd/>
            <a:tailEnd/>
          </a:ln>
        </p:spPr>
      </p:pic>
      <p:pic>
        <p:nvPicPr>
          <p:cNvPr id="21509" name="Picture 3"/>
          <p:cNvPicPr>
            <a:picLocks noChangeAspect="1" noChangeArrowheads="1"/>
          </p:cNvPicPr>
          <p:nvPr/>
        </p:nvPicPr>
        <p:blipFill>
          <a:blip r:embed="rId3">
            <a:lum bright="-20000" contrast="30000"/>
          </a:blip>
          <a:srcRect/>
          <a:stretch>
            <a:fillRect/>
          </a:stretch>
        </p:blipFill>
        <p:spPr bwMode="auto">
          <a:xfrm>
            <a:off x="4800600" y="1646238"/>
            <a:ext cx="2971800" cy="307816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3"/>
          <p:cNvSpPr txBox="1">
            <a:spLocks noChangeArrowheads="1"/>
          </p:cNvSpPr>
          <p:nvPr/>
        </p:nvSpPr>
        <p:spPr bwMode="auto">
          <a:xfrm>
            <a:off x="152400" y="631825"/>
            <a:ext cx="8839200" cy="2216150"/>
          </a:xfrm>
          <a:prstGeom prst="rect">
            <a:avLst/>
          </a:prstGeom>
          <a:noFill/>
          <a:ln w="9525">
            <a:noFill/>
            <a:miter lim="800000"/>
            <a:headEnd/>
            <a:tailEnd/>
          </a:ln>
        </p:spPr>
        <p:txBody>
          <a:bodyPr>
            <a:spAutoFit/>
          </a:bodyPr>
          <a:lstStyle/>
          <a:p>
            <a:pPr algn="just">
              <a:spcAft>
                <a:spcPts val="1000"/>
              </a:spcAft>
            </a:pPr>
            <a:r>
              <a:rPr lang="en-US" sz="2300" b="1">
                <a:latin typeface="Arial" charset="0"/>
                <a:ea typeface="Calibri" pitchFamily="34" charset="0"/>
                <a:cs typeface="Times New Roman" pitchFamily="18" charset="0"/>
              </a:rPr>
              <a:t>The orientation for a displayed character string is set according to the direction of the character up vector. A procedure for orienting text rotates characters so that the sides of character bodies, from baseline to capline, are aligned with the up vector. The rotated character shapes are then scan converted into the frame buffer.</a:t>
            </a: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CHARACTER ATTRIBUTES:</a:t>
            </a:r>
          </a:p>
        </p:txBody>
      </p:sp>
      <p:pic>
        <p:nvPicPr>
          <p:cNvPr id="22532" name="Picture 2"/>
          <p:cNvPicPr>
            <a:picLocks noChangeAspect="1" noChangeArrowheads="1"/>
          </p:cNvPicPr>
          <p:nvPr/>
        </p:nvPicPr>
        <p:blipFill>
          <a:blip r:embed="rId2">
            <a:lum bright="-20000" contrast="30000"/>
          </a:blip>
          <a:srcRect/>
          <a:stretch>
            <a:fillRect/>
          </a:stretch>
        </p:blipFill>
        <p:spPr bwMode="auto">
          <a:xfrm>
            <a:off x="685800" y="2971800"/>
            <a:ext cx="7673975" cy="31242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3"/>
          <p:cNvSpPr txBox="1">
            <a:spLocks noChangeArrowheads="1"/>
          </p:cNvSpPr>
          <p:nvPr/>
        </p:nvSpPr>
        <p:spPr bwMode="auto">
          <a:xfrm>
            <a:off x="152400" y="631825"/>
            <a:ext cx="8839200" cy="1636713"/>
          </a:xfrm>
          <a:prstGeom prst="rect">
            <a:avLst/>
          </a:prstGeom>
          <a:noFill/>
          <a:ln w="9525">
            <a:noFill/>
            <a:miter lim="800000"/>
            <a:headEnd/>
            <a:tailEnd/>
          </a:ln>
        </p:spPr>
        <p:txBody>
          <a:bodyPr>
            <a:spAutoFit/>
          </a:bodyPr>
          <a:lstStyle/>
          <a:p>
            <a:pPr algn="just">
              <a:spcAft>
                <a:spcPts val="1000"/>
              </a:spcAft>
            </a:pPr>
            <a:r>
              <a:rPr lang="en-US" sz="2300" b="1">
                <a:latin typeface="Arial" charset="0"/>
                <a:ea typeface="Calibri" pitchFamily="34" charset="0"/>
                <a:cs typeface="Times New Roman" pitchFamily="18" charset="0"/>
              </a:rPr>
              <a:t>It is useful in many applications to be able to arrange character strings vertically or horizontally (Fig. 4-30). </a:t>
            </a:r>
          </a:p>
          <a:p>
            <a:pPr algn="just">
              <a:spcAft>
                <a:spcPts val="1000"/>
              </a:spcAft>
            </a:pPr>
            <a:r>
              <a:rPr lang="en-US" sz="2300" b="1">
                <a:latin typeface="Arial" charset="0"/>
                <a:ea typeface="Calibri" pitchFamily="34" charset="0"/>
                <a:cs typeface="Times New Roman" pitchFamily="18" charset="0"/>
              </a:rPr>
              <a:t>Character strings can also be oriented using a combination of up-vector and text-path specifications to produce slanted text.</a:t>
            </a: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CHARACTER ATTRIBUTES:</a:t>
            </a:r>
          </a:p>
        </p:txBody>
      </p:sp>
      <p:pic>
        <p:nvPicPr>
          <p:cNvPr id="23556" name="Picture 3"/>
          <p:cNvPicPr>
            <a:picLocks noChangeAspect="1" noChangeArrowheads="1"/>
          </p:cNvPicPr>
          <p:nvPr/>
        </p:nvPicPr>
        <p:blipFill>
          <a:blip r:embed="rId2">
            <a:lum bright="-20000" contrast="30000"/>
          </a:blip>
          <a:srcRect/>
          <a:stretch>
            <a:fillRect/>
          </a:stretch>
        </p:blipFill>
        <p:spPr bwMode="auto">
          <a:xfrm>
            <a:off x="2438400" y="2286000"/>
            <a:ext cx="2895600" cy="42243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3"/>
          <p:cNvSpPr txBox="1">
            <a:spLocks noChangeArrowheads="1"/>
          </p:cNvSpPr>
          <p:nvPr/>
        </p:nvSpPr>
        <p:spPr bwMode="auto">
          <a:xfrm>
            <a:off x="152400" y="631825"/>
            <a:ext cx="4495800" cy="6011863"/>
          </a:xfrm>
          <a:prstGeom prst="rect">
            <a:avLst/>
          </a:prstGeom>
          <a:noFill/>
          <a:ln w="9525">
            <a:noFill/>
            <a:miter lim="800000"/>
            <a:headEnd/>
            <a:tailEnd/>
          </a:ln>
        </p:spPr>
        <p:txBody>
          <a:bodyPr>
            <a:spAutoFit/>
          </a:bodyPr>
          <a:lstStyle/>
          <a:p>
            <a:pPr algn="just">
              <a:spcAft>
                <a:spcPts val="1000"/>
              </a:spcAft>
            </a:pPr>
            <a:r>
              <a:rPr lang="en-US" sz="2300" b="1">
                <a:latin typeface="Arial" charset="0"/>
                <a:ea typeface="Calibri" pitchFamily="34" charset="0"/>
                <a:cs typeface="Times New Roman" pitchFamily="18" charset="0"/>
              </a:rPr>
              <a:t>Another handy attribute for character strings is alignment. This attribute specifies how text is to be positioned with respect to the start coordinates.</a:t>
            </a:r>
          </a:p>
          <a:p>
            <a:pPr algn="just">
              <a:spcAft>
                <a:spcPts val="1000"/>
              </a:spcAft>
            </a:pPr>
            <a:r>
              <a:rPr lang="en-IN" sz="2300" b="1">
                <a:latin typeface="Arial" charset="0"/>
                <a:ea typeface="Calibri" pitchFamily="34" charset="0"/>
                <a:cs typeface="Times New Roman" pitchFamily="18" charset="0"/>
              </a:rPr>
              <a:t>      setTextAlignment (h, v)</a:t>
            </a:r>
            <a:endParaRPr lang="en-US" sz="2300" b="1">
              <a:latin typeface="Arial" charset="0"/>
              <a:ea typeface="Calibri" pitchFamily="34" charset="0"/>
              <a:cs typeface="Times New Roman" pitchFamily="18" charset="0"/>
            </a:endParaRPr>
          </a:p>
          <a:p>
            <a:pPr algn="just">
              <a:spcAft>
                <a:spcPts val="1000"/>
              </a:spcAft>
            </a:pPr>
            <a:r>
              <a:rPr lang="en-US" sz="2300" b="1">
                <a:latin typeface="Arial" charset="0"/>
                <a:ea typeface="Calibri" pitchFamily="34" charset="0"/>
                <a:cs typeface="Times New Roman" pitchFamily="18" charset="0"/>
              </a:rPr>
              <a:t>Horizontal alignment is set by assigning h a value of left, centre, or right. Vertical alignment is set by assigning v a value of top, cap, half, base or bottom. The interpretation of these alignment values depends on the current setting for the text path.</a:t>
            </a: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CHARACTER ATTRIBUTES:</a:t>
            </a:r>
          </a:p>
        </p:txBody>
      </p:sp>
      <p:pic>
        <p:nvPicPr>
          <p:cNvPr id="24580" name="Picture 2"/>
          <p:cNvPicPr>
            <a:picLocks noChangeAspect="1" noChangeArrowheads="1"/>
          </p:cNvPicPr>
          <p:nvPr/>
        </p:nvPicPr>
        <p:blipFill>
          <a:blip r:embed="rId2">
            <a:lum bright="-20000" contrast="30000"/>
          </a:blip>
          <a:srcRect/>
          <a:stretch>
            <a:fillRect/>
          </a:stretch>
        </p:blipFill>
        <p:spPr bwMode="auto">
          <a:xfrm>
            <a:off x="4724400" y="1143000"/>
            <a:ext cx="4356100" cy="38862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3"/>
          <p:cNvSpPr txBox="1">
            <a:spLocks noChangeArrowheads="1"/>
          </p:cNvSpPr>
          <p:nvPr/>
        </p:nvSpPr>
        <p:spPr bwMode="auto">
          <a:xfrm>
            <a:off x="152400" y="711200"/>
            <a:ext cx="8839200" cy="5021263"/>
          </a:xfrm>
          <a:prstGeom prst="rect">
            <a:avLst/>
          </a:prstGeom>
          <a:noFill/>
          <a:ln w="9525">
            <a:noFill/>
            <a:miter lim="800000"/>
            <a:headEnd/>
            <a:tailEnd/>
          </a:ln>
        </p:spPr>
        <p:txBody>
          <a:bodyPr>
            <a:spAutoFit/>
          </a:bodyPr>
          <a:lstStyle/>
          <a:p>
            <a:pPr algn="just">
              <a:spcAft>
                <a:spcPts val="1000"/>
              </a:spcAft>
            </a:pPr>
            <a:r>
              <a:rPr lang="en-US" b="1">
                <a:latin typeface="Arial" charset="0"/>
                <a:ea typeface="Calibri" pitchFamily="34" charset="0"/>
                <a:cs typeface="Times New Roman" pitchFamily="18" charset="0"/>
              </a:rPr>
              <a:t>With the procedures we have considered so far, each function references a single attribute that specifies exactly how a primitive is to be displayed with that attribute setting. These specifications are called individual (or unbundled) attributes, and they are meant to be used with an output device that is capable of displaying primitives in the way specified. </a:t>
            </a:r>
          </a:p>
          <a:p>
            <a:pPr algn="just">
              <a:spcAft>
                <a:spcPts val="1000"/>
              </a:spcAft>
            </a:pPr>
            <a:r>
              <a:rPr lang="en-US" b="1">
                <a:latin typeface="Arial" charset="0"/>
                <a:ea typeface="Calibri" pitchFamily="34" charset="0"/>
                <a:cs typeface="Times New Roman" pitchFamily="18" charset="0"/>
              </a:rPr>
              <a:t>If an application program, employing individual attributes, is interfaced to several output devices, some of the devices may not have the capability to display the intended attributes. A program using individual color attribute, for example, may have to be modified to produce acceptable output on a monochromatic monitor. </a:t>
            </a: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BUNDLED ATTRIBUTES:</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3"/>
          <p:cNvSpPr txBox="1">
            <a:spLocks noChangeArrowheads="1"/>
          </p:cNvSpPr>
          <p:nvPr/>
        </p:nvSpPr>
        <p:spPr bwMode="auto">
          <a:xfrm>
            <a:off x="152400" y="711200"/>
            <a:ext cx="8839200" cy="5759450"/>
          </a:xfrm>
          <a:prstGeom prst="rect">
            <a:avLst/>
          </a:prstGeom>
          <a:noFill/>
          <a:ln w="9525">
            <a:noFill/>
            <a:miter lim="800000"/>
            <a:headEnd/>
            <a:tailEnd/>
          </a:ln>
        </p:spPr>
        <p:txBody>
          <a:bodyPr>
            <a:spAutoFit/>
          </a:bodyPr>
          <a:lstStyle/>
          <a:p>
            <a:pPr algn="just">
              <a:spcAft>
                <a:spcPts val="1000"/>
              </a:spcAft>
            </a:pPr>
            <a:r>
              <a:rPr lang="en-US" b="1">
                <a:latin typeface="Arial" charset="0"/>
                <a:ea typeface="Calibri" pitchFamily="34" charset="0"/>
                <a:cs typeface="Times New Roman" pitchFamily="18" charset="0"/>
              </a:rPr>
              <a:t>Individual attribute commands provide a simple and direct method for specifying attributes when a single output device is used. When several kinds of output devices are available at a graphics installation, it is convenient for a user to be able to say how attributes are to be interpreted on each of the different devices.</a:t>
            </a:r>
          </a:p>
          <a:p>
            <a:pPr algn="just">
              <a:spcAft>
                <a:spcPts val="1000"/>
              </a:spcAft>
            </a:pPr>
            <a:r>
              <a:rPr lang="en-US" b="1">
                <a:latin typeface="Arial" charset="0"/>
                <a:ea typeface="Calibri" pitchFamily="34" charset="0"/>
                <a:cs typeface="Times New Roman" pitchFamily="18" charset="0"/>
              </a:rPr>
              <a:t>This is accomplished by setting up tables for each output device that lists sets of attribute values that are to be used on that device, to display each primitive type. A particular set of attribute values for a primitive on each output device is then chosen by specifying the appropriate table index. Attributes specified in this manner called bundled attributes. The table for each primitive that defines groups of attribute values to be used when displaying at primitive on a particular output device is called a bundle table.</a:t>
            </a: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BUNDLED ATTRIBUTES:</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3"/>
          <p:cNvSpPr txBox="1">
            <a:spLocks noChangeArrowheads="1"/>
          </p:cNvSpPr>
          <p:nvPr/>
        </p:nvSpPr>
        <p:spPr bwMode="auto">
          <a:xfrm>
            <a:off x="152400" y="711200"/>
            <a:ext cx="8839200" cy="4411663"/>
          </a:xfrm>
          <a:prstGeom prst="rect">
            <a:avLst/>
          </a:prstGeom>
          <a:noFill/>
          <a:ln w="9525">
            <a:noFill/>
            <a:miter lim="800000"/>
            <a:headEnd/>
            <a:tailEnd/>
          </a:ln>
        </p:spPr>
        <p:txBody>
          <a:bodyPr>
            <a:spAutoFit/>
          </a:bodyPr>
          <a:lstStyle/>
          <a:p>
            <a:pPr algn="just">
              <a:spcAft>
                <a:spcPts val="1000"/>
              </a:spcAft>
            </a:pPr>
            <a:r>
              <a:rPr lang="en-US" b="1">
                <a:latin typeface="Arial" charset="0"/>
                <a:ea typeface="Calibri" pitchFamily="34" charset="0"/>
                <a:cs typeface="Times New Roman" pitchFamily="18" charset="0"/>
              </a:rPr>
              <a:t>Attributes that may be bundled into the workstation table entries are those that do not involve coordinate specifications, such as color and line type. The choice between a bundled or an unbundled specification is made by setting switch called the aspect source flag for each of these attributes:</a:t>
            </a:r>
          </a:p>
          <a:p>
            <a:pPr lvl="1" algn="just">
              <a:spcAft>
                <a:spcPts val="1000"/>
              </a:spcAft>
            </a:pPr>
            <a:r>
              <a:rPr lang="en-US" b="1">
                <a:latin typeface="Arial" charset="0"/>
                <a:ea typeface="Calibri" pitchFamily="34" charset="0"/>
                <a:cs typeface="Times New Roman" pitchFamily="18" charset="0"/>
              </a:rPr>
              <a:t>setIndividualASF (attributeptr, flagptr)</a:t>
            </a:r>
          </a:p>
          <a:p>
            <a:pPr algn="just">
              <a:spcAft>
                <a:spcPts val="1000"/>
              </a:spcAft>
            </a:pPr>
            <a:r>
              <a:rPr lang="en-US" b="1">
                <a:latin typeface="Arial" charset="0"/>
                <a:ea typeface="Calibri" pitchFamily="34" charset="0"/>
                <a:cs typeface="Times New Roman" pitchFamily="18" charset="0"/>
              </a:rPr>
              <a:t>where parameter attributeptr points to a list of attributes, and parameter flagptr points to the corresponding list of aspect source flags. Each aspect source flag can be assigned a value of individual or bundled. </a:t>
            </a:r>
          </a:p>
        </p:txBody>
      </p:sp>
      <p:sp>
        <p:nvSpPr>
          <p:cNvPr id="3" name="Rectangle 2"/>
          <p:cNvSpPr/>
          <p:nvPr/>
        </p:nvSpPr>
        <p:spPr>
          <a:xfrm>
            <a:off x="228600" y="95250"/>
            <a:ext cx="7010400" cy="461963"/>
          </a:xfrm>
          <a:prstGeom prst="rect">
            <a:avLst/>
          </a:prstGeom>
        </p:spPr>
        <p:txBody>
          <a:bodyPr>
            <a:spAutoFit/>
          </a:bodyPr>
          <a:lstStyle/>
          <a:p>
            <a:pPr>
              <a:defRPr/>
            </a:pPr>
            <a:r>
              <a:rPr lang="en-US" b="1" dirty="0">
                <a:solidFill>
                  <a:srgbClr val="FF0000"/>
                </a:solidFill>
                <a:latin typeface="+mn-lt"/>
              </a:rPr>
              <a:t>BUNDLED ATTRIBUTES:</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ETL Concepts">
  <a:themeElements>
    <a:clrScheme name="">
      <a:dk1>
        <a:srgbClr val="000000"/>
      </a:dk1>
      <a:lt1>
        <a:srgbClr val="FFFFFF"/>
      </a:lt1>
      <a:dk2>
        <a:srgbClr val="003399"/>
      </a:dk2>
      <a:lt2>
        <a:srgbClr val="FF9900"/>
      </a:lt2>
      <a:accent1>
        <a:srgbClr val="3399FF"/>
      </a:accent1>
      <a:accent2>
        <a:srgbClr val="FFFF00"/>
      </a:accent2>
      <a:accent3>
        <a:srgbClr val="AAADCA"/>
      </a:accent3>
      <a:accent4>
        <a:srgbClr val="DADADA"/>
      </a:accent4>
      <a:accent5>
        <a:srgbClr val="ADCAFF"/>
      </a:accent5>
      <a:accent6>
        <a:srgbClr val="E7E700"/>
      </a:accent6>
      <a:hlink>
        <a:srgbClr val="FF0000"/>
      </a:hlink>
      <a:folHlink>
        <a:srgbClr val="969696"/>
      </a:folHlink>
    </a:clrScheme>
    <a:fontScheme name="ETL Concep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CC99"/>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rgbClr val="00CC99"/>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ETL Concept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TL Concept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ETL Concept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TL Concept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TL Concept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TL Concept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ETL Concept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D:\Documents\Presentations\DW Concepts Training\ETL Concepts.ppt</Template>
  <TotalTime>6820</TotalTime>
  <Words>2449</Words>
  <Application>Microsoft Office PowerPoint</Application>
  <PresentationFormat>On-screen Show (4:3)</PresentationFormat>
  <Paragraphs>89</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Times New Roman</vt:lpstr>
      <vt:lpstr>Arial</vt:lpstr>
      <vt:lpstr>Wingdings</vt:lpstr>
      <vt:lpstr>Calibri</vt:lpstr>
      <vt:lpstr>ETL Concepts</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CEC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Data Warehousing</dc:title>
  <dc:creator>Piyush Gandhi</dc:creator>
  <cp:lastModifiedBy>Windows User</cp:lastModifiedBy>
  <cp:revision>652</cp:revision>
  <cp:lastPrinted>1999-12-23T06:32:52Z</cp:lastPrinted>
  <dcterms:created xsi:type="dcterms:W3CDTF">1999-12-03T06:13:46Z</dcterms:created>
  <dcterms:modified xsi:type="dcterms:W3CDTF">2022-09-14T10:59:20Z</dcterms:modified>
</cp:coreProperties>
</file>